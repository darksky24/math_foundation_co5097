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5143500" cx="9144000"/>
  <p:notesSz cx="7772400" cy="10058400"/>
  <p:embeddedFontLst>
    <p:embeddedFont>
      <p:font typeface="Roboto Condensed Light"/>
      <p:regular r:id="rId47"/>
      <p:bold r:id="rId48"/>
      <p:italic r:id="rId49"/>
      <p:boldItalic r:id="rId50"/>
    </p:embeddedFont>
    <p:embeddedFont>
      <p:font typeface="Exo 2"/>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hFF4pra3RNJutQ3gDRjws+7EyH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CondensedLight-bold.fntdata"/><Relationship Id="rId47" Type="http://schemas.openxmlformats.org/officeDocument/2006/relationships/font" Target="fonts/RobotoCondensedLight-regular.fntdata"/><Relationship Id="rId49" Type="http://schemas.openxmlformats.org/officeDocument/2006/relationships/font" Target="fonts/RobotoCondensedLigh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Exo2-regular.fntdata"/><Relationship Id="rId50" Type="http://schemas.openxmlformats.org/officeDocument/2006/relationships/font" Target="fonts/RobotoCondensedLight-boldItalic.fntdata"/><Relationship Id="rId53" Type="http://schemas.openxmlformats.org/officeDocument/2006/relationships/font" Target="fonts/Exo2-italic.fntdata"/><Relationship Id="rId52" Type="http://schemas.openxmlformats.org/officeDocument/2006/relationships/font" Target="fonts/Exo2-bold.fntdata"/><Relationship Id="rId11" Type="http://schemas.openxmlformats.org/officeDocument/2006/relationships/slide" Target="slides/slide7.xml"/><Relationship Id="rId55" Type="http://customschemas.google.com/relationships/presentationmetadata" Target="metadata"/><Relationship Id="rId10" Type="http://schemas.openxmlformats.org/officeDocument/2006/relationships/slide" Target="slides/slide6.xml"/><Relationship Id="rId54" Type="http://schemas.openxmlformats.org/officeDocument/2006/relationships/font" Target="fonts/Exo2-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 name="Google Shape;56;p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2: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ef577f991_1_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ef577f991_1_6: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ef577f991_1_14: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ef577f991_1_14: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ef577f991_1_2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ef577f991_1_22: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f577f991_1_34: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f577f991_1_34: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ef577f991_1_4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ef577f991_1_40: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ef577f991_1_49: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ef577f991_1_49: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f58a59889_0_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f58a59889_0_0: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f58a59889_0_3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f58a59889_0_32: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f58a59889_0_4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f58a59889_0_42: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f58a59889_0_57: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f58a59889_0_57: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4c1b698f3a_3_0: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24c1b698f3a_3_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60d55e3b1_1_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60d55e3b1_1_0: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60d55e3b1_1_7: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60d55e3b1_1_7: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60d55e3b1_2_5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60d55e3b1_2_56: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60d55e3b1_2_21: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60d55e3b1_2_21: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60d55e3b1_2_1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60d55e3b1_2_12: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1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62e891a3f_0_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62e891a3f_0_0: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fa403a642_1_8: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fa403a642_1_8: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fa403a642_1_1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fa403a642_1_16: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fa927e447_0_99: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fa927e447_0_99: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fa927e447_0_11: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fa927e447_0_11: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fa927e447_0_28: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afa927e447_0_28: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fa927e447_0_45: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fa927e447_0_45: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fa927e447_0_53: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fa927e447_0_53: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fa927e447_0_6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afa927e447_0_62: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fa927e447_0_70: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fa927e447_0_70: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60d55e3b1_0_39: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g3a60d55e3b1_0_39: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60d55e3b1_0_47: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a60d55e3b1_0_47: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60d55e3b1_0_2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60d55e3b1_0_26: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60d55e3b1_0_66: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 trận trực giao là một isometry (phép giữ khoảng cách) trong</a:t>
            </a:r>
            <a:endParaRPr/>
          </a:p>
          <a:p>
            <a:pPr indent="0" lvl="0" marL="0" rtl="0" algn="l">
              <a:spcBef>
                <a:spcPts val="0"/>
              </a:spcBef>
              <a:spcAft>
                <a:spcPts val="0"/>
              </a:spcAft>
              <a:buClr>
                <a:schemeClr val="dk1"/>
              </a:buClr>
              <a:buSzPts val="1100"/>
              <a:buFont typeface="Arial"/>
              <a:buNone/>
            </a:pPr>
            <a:r>
              <a:rPr lang="en"/>
              <a:t>không gian Euclid: nó biểu diễn các phép quay hoặc phản chiếu (hoặc tổ hợp của chúng)</a:t>
            </a:r>
            <a:endParaRPr/>
          </a:p>
          <a:p>
            <a:pPr indent="0" lvl="0" marL="0" rtl="0" algn="l">
              <a:spcBef>
                <a:spcPts val="0"/>
              </a:spcBef>
              <a:spcAft>
                <a:spcPts val="0"/>
              </a:spcAft>
              <a:buClr>
                <a:schemeClr val="dk1"/>
              </a:buClr>
              <a:buSzPts val="1100"/>
              <a:buFont typeface="Arial"/>
              <a:buNone/>
            </a:pPr>
            <a:r>
              <a:rPr lang="en"/>
              <a:t>nên không thay đổi độ dài vector và góc giữa các vector. Vì vậy độ lớn của nhiễu</a:t>
            </a:r>
            <a:endParaRPr/>
          </a:p>
          <a:p>
            <a:pPr indent="0" lvl="0" marL="0" rtl="0" algn="l">
              <a:spcBef>
                <a:spcPts val="0"/>
              </a:spcBef>
              <a:spcAft>
                <a:spcPts val="0"/>
              </a:spcAft>
              <a:buClr>
                <a:schemeClr val="dk1"/>
              </a:buClr>
              <a:buSzPts val="1100"/>
              <a:buFont typeface="Arial"/>
              <a:buNone/>
            </a:pPr>
            <a:r>
              <a:rPr lang="en"/>
              <a:t>(perturbation) c − δ không đổi khi ta thay đổi cơ sở bằng một biến đổi trực giao U.</a:t>
            </a:r>
            <a:endParaRPr/>
          </a:p>
          <a:p>
            <a:pPr indent="0" lvl="0" marL="0" rtl="0" algn="l">
              <a:lnSpc>
                <a:spcPct val="100000"/>
              </a:lnSpc>
              <a:spcBef>
                <a:spcPts val="0"/>
              </a:spcBef>
              <a:spcAft>
                <a:spcPts val="0"/>
              </a:spcAft>
              <a:buSzPts val="1100"/>
              <a:buNone/>
            </a:pPr>
            <a:r>
              <a:t/>
            </a:r>
            <a:endParaRPr/>
          </a:p>
        </p:txBody>
      </p:sp>
      <p:sp>
        <p:nvSpPr>
          <p:cNvPr id="384" name="Google Shape;384;g3a60d55e3b1_0_6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60d55e3b1_0_79: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a60d55e3b1_0_79: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60d55e3b1_0_95: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a60d55e3b1_0_95: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60d55e3b1_0_108: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g3a60d55e3b1_0_108: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60d55e3b1_0_122: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g3a60d55e3b1_0_122: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60d55e3b1_0_144: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g3a60d55e3b1_0_144: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a60d55e3b1_0_158: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g3a60d55e3b1_0_158: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af8b8a06fb_0_6:notes"/>
          <p:cNvSpPr/>
          <p:nvPr>
            <p:ph idx="2" type="sldImg"/>
          </p:nvPr>
        </p:nvSpPr>
        <p:spPr>
          <a:xfrm>
            <a:off x="1295650" y="754375"/>
            <a:ext cx="5181900" cy="37719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af8b8a06fb_0_6:notes"/>
          <p:cNvSpPr txBox="1"/>
          <p:nvPr>
            <p:ph idx="1" type="body"/>
          </p:nvPr>
        </p:nvSpPr>
        <p:spPr>
          <a:xfrm>
            <a:off x="777225" y="4777725"/>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af76b85f94_0_1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g3af76b85f94_0_1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af76b85f94_0_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af76b85f94_0_1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g3af76b85f94_0_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af76b85f94_0_1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g3af76b85f94_0_1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g3af76b85f94_0_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af76b85f94_0_1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af76b85f94_0_18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g3af76b85f94_0_18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g3af76b85f94_0_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af76b85f94_0_1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g3af76b85f94_0_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af76b85f94_0_19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g3af76b85f94_0_19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3af76b85f94_0_1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af76b85f94_0_19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g3af76b85f94_0_1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af76b85f94_0_2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af76b85f94_0_2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g3af76b85f94_0_20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af76b85f94_0_2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g3af76b85f94_0_2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af76b85f94_0_20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g3af76b85f94_0_2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af76b85f94_0_20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af76b85f94_0_20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g3af76b85f94_0_2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af76b85f94_0_2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50" name="Shape 50"/>
        <p:cNvGrpSpPr/>
        <p:nvPr/>
      </p:nvGrpSpPr>
      <p:grpSpPr>
        <a:xfrm>
          <a:off x="0" y="0"/>
          <a:ext cx="0" cy="0"/>
          <a:chOff x="0" y="0"/>
          <a:chExt cx="0" cy="0"/>
        </a:xfrm>
      </p:grpSpPr>
      <p:sp>
        <p:nvSpPr>
          <p:cNvPr id="51" name="Google Shape;51;g3af76b85f94_0_215"/>
          <p:cNvSpPr txBox="1"/>
          <p:nvPr>
            <p:ph type="title"/>
          </p:nvPr>
        </p:nvSpPr>
        <p:spPr>
          <a:xfrm>
            <a:off x="457200" y="205200"/>
            <a:ext cx="82293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3af76b85f94_0_215"/>
          <p:cNvSpPr txBox="1"/>
          <p:nvPr>
            <p:ph idx="1" type="subTitle"/>
          </p:nvPr>
        </p:nvSpPr>
        <p:spPr>
          <a:xfrm>
            <a:off x="457200" y="1203480"/>
            <a:ext cx="8229300" cy="2982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3af76b85f94_0_21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af76b85f94_0_1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af76b85f94_0_1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af76b85f94_0_1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about:blan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about:blan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idx="4294967295" type="title"/>
          </p:nvPr>
        </p:nvSpPr>
        <p:spPr>
          <a:xfrm>
            <a:off x="838200" y="1393560"/>
            <a:ext cx="7559400" cy="1776000"/>
          </a:xfrm>
          <a:prstGeom prst="rect">
            <a:avLst/>
          </a:prstGeom>
          <a:noFill/>
          <a:ln>
            <a:noFill/>
          </a:ln>
        </p:spPr>
        <p:txBody>
          <a:bodyPr anchorCtr="0" anchor="b" bIns="91425" lIns="0" spcFirstLastPara="1" rIns="0" wrap="square" tIns="91425">
            <a:noAutofit/>
          </a:bodyPr>
          <a:lstStyle/>
          <a:p>
            <a:pPr indent="0" lvl="0" marL="0" rtl="0" algn="r">
              <a:spcBef>
                <a:spcPts val="0"/>
              </a:spcBef>
              <a:spcAft>
                <a:spcPts val="0"/>
              </a:spcAft>
              <a:buClr>
                <a:schemeClr val="dk1"/>
              </a:buClr>
              <a:buSzPts val="1100"/>
              <a:buFont typeface="Arial"/>
              <a:buNone/>
            </a:pPr>
            <a:r>
              <a:rPr lang="en" sz="2600">
                <a:latin typeface="Exo 2"/>
                <a:ea typeface="Exo 2"/>
                <a:cs typeface="Exo 2"/>
                <a:sym typeface="Exo 2"/>
              </a:rPr>
              <a:t>OPTIMIZATION FOR MACHINE LEARNING</a:t>
            </a:r>
            <a:endParaRPr sz="2600">
              <a:latin typeface="Exo 2"/>
              <a:ea typeface="Exo 2"/>
              <a:cs typeface="Exo 2"/>
              <a:sym typeface="Exo 2"/>
            </a:endParaRPr>
          </a:p>
          <a:p>
            <a:pPr indent="0" lvl="0" marL="0" rtl="0" algn="r">
              <a:spcBef>
                <a:spcPts val="0"/>
              </a:spcBef>
              <a:spcAft>
                <a:spcPts val="0"/>
              </a:spcAft>
              <a:buClr>
                <a:schemeClr val="dk1"/>
              </a:buClr>
              <a:buSzPts val="1100"/>
              <a:buFont typeface="Arial"/>
              <a:buNone/>
            </a:pPr>
            <a:r>
              <a:rPr lang="en" sz="2600">
                <a:latin typeface="Exo 2"/>
                <a:ea typeface="Exo 2"/>
                <a:cs typeface="Exo 2"/>
                <a:sym typeface="Exo 2"/>
              </a:rPr>
              <a:t>ADAGRAD</a:t>
            </a:r>
            <a:endParaRPr sz="2600">
              <a:latin typeface="Exo 2"/>
              <a:ea typeface="Exo 2"/>
              <a:cs typeface="Exo 2"/>
              <a:sym typeface="Exo 2"/>
            </a:endParaRPr>
          </a:p>
          <a:p>
            <a:pPr indent="0" lvl="0" marL="0" marR="0" rtl="0" algn="r">
              <a:lnSpc>
                <a:spcPct val="100000"/>
              </a:lnSpc>
              <a:spcBef>
                <a:spcPts val="0"/>
              </a:spcBef>
              <a:spcAft>
                <a:spcPts val="0"/>
              </a:spcAft>
              <a:buClr>
                <a:srgbClr val="434343"/>
              </a:buClr>
              <a:buSzPts val="2600"/>
              <a:buFont typeface="Exo 2"/>
              <a:buNone/>
            </a:pPr>
            <a:r>
              <a:t/>
            </a:r>
            <a:endParaRPr sz="2600">
              <a:latin typeface="Exo 2"/>
              <a:ea typeface="Exo 2"/>
              <a:cs typeface="Exo 2"/>
              <a:sym typeface="Exo 2"/>
            </a:endParaRPr>
          </a:p>
        </p:txBody>
      </p:sp>
      <p:sp>
        <p:nvSpPr>
          <p:cNvPr id="59" name="Google Shape;59;p1"/>
          <p:cNvSpPr txBox="1"/>
          <p:nvPr>
            <p:ph idx="4294967295" type="subTitle"/>
          </p:nvPr>
        </p:nvSpPr>
        <p:spPr>
          <a:xfrm>
            <a:off x="2841650" y="2718025"/>
            <a:ext cx="6012600" cy="21888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434343"/>
              </a:buClr>
              <a:buSzPts val="2000"/>
              <a:buFont typeface="Roboto Condensed Light"/>
              <a:buNone/>
            </a:pPr>
            <a:r>
              <a:rPr b="1" lang="en" sz="2000">
                <a:solidFill>
                  <a:srgbClr val="434343"/>
                </a:solidFill>
                <a:latin typeface="Roboto Condensed Light"/>
                <a:ea typeface="Roboto Condensed Light"/>
                <a:cs typeface="Roboto Condensed Light"/>
                <a:sym typeface="Roboto Condensed Light"/>
              </a:rPr>
              <a:t>Mathematical Foundation for Computer Science</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hlink"/>
              </a:buClr>
              <a:buSzPts val="1300"/>
              <a:buFont typeface="Roboto Condensed Light"/>
              <a:buNone/>
            </a:pPr>
            <a:r>
              <a:rPr lang="en" sz="1300">
                <a:solidFill>
                  <a:schemeClr val="hlink"/>
                </a:solidFill>
                <a:latin typeface="Roboto Condensed Light"/>
                <a:ea typeface="Roboto Condensed Light"/>
                <a:cs typeface="Roboto Condensed Light"/>
                <a:sym typeface="Roboto Condensed Light"/>
              </a:rPr>
              <a:t>Lecturer</a:t>
            </a:r>
            <a:r>
              <a:rPr b="0" i="0" lang="en" sz="1300" u="none" cap="none" strike="noStrike">
                <a:solidFill>
                  <a:schemeClr val="hlink"/>
                </a:solidFill>
                <a:latin typeface="Roboto Condensed Light"/>
                <a:ea typeface="Roboto Condensed Light"/>
                <a:cs typeface="Roboto Condensed Light"/>
                <a:sym typeface="Roboto Condensed Light"/>
              </a:rPr>
              <a:t>: </a:t>
            </a:r>
            <a:r>
              <a:rPr lang="en" sz="1300">
                <a:solidFill>
                  <a:schemeClr val="hlink"/>
                </a:solidFill>
                <a:latin typeface="Roboto Condensed Light"/>
                <a:ea typeface="Roboto Condensed Light"/>
                <a:cs typeface="Roboto Condensed Light"/>
                <a:sym typeface="Roboto Condensed Light"/>
              </a:rPr>
              <a:t>Dr . Nguyễn An Khương</a:t>
            </a:r>
            <a:endParaRPr b="0" i="0" sz="1300" u="none" cap="none" strike="noStrike">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300"/>
              <a:buFont typeface="Roboto Condensed Light"/>
              <a:buNone/>
            </a:pPr>
            <a:r>
              <a:rPr b="0" i="0" lang="en" sz="1300" u="none" cap="none" strike="noStrike">
                <a:solidFill>
                  <a:srgbClr val="434343"/>
                </a:solidFill>
                <a:latin typeface="Roboto Condensed Light"/>
                <a:ea typeface="Roboto Condensed Light"/>
                <a:cs typeface="Roboto Condensed Light"/>
                <a:sym typeface="Roboto Condensed Light"/>
              </a:rPr>
              <a:t>Students: </a:t>
            </a:r>
            <a:r>
              <a:rPr lang="en" sz="1300">
                <a:solidFill>
                  <a:srgbClr val="434343"/>
                </a:solidFill>
                <a:latin typeface="Roboto Condensed Light"/>
                <a:ea typeface="Roboto Condensed Light"/>
                <a:cs typeface="Roboto Condensed Light"/>
                <a:sym typeface="Roboto Condensed Light"/>
              </a:rPr>
              <a:t>Ngô Nhất Toàn - 2570515 </a:t>
            </a:r>
            <a:endParaRPr sz="13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300"/>
              <a:buFont typeface="Roboto Condensed Light"/>
              <a:buNone/>
            </a:pPr>
            <a:r>
              <a:rPr lang="en" sz="1300">
                <a:solidFill>
                  <a:srgbClr val="434343"/>
                </a:solidFill>
                <a:latin typeface="Roboto Condensed Light"/>
                <a:ea typeface="Roboto Condensed Light"/>
                <a:cs typeface="Roboto Condensed Light"/>
                <a:sym typeface="Roboto Condensed Light"/>
              </a:rPr>
              <a:t>Trần Hoàng Ân - 2570548 </a:t>
            </a:r>
            <a:endParaRPr sz="13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300"/>
              <a:buFont typeface="Roboto Condensed Light"/>
              <a:buNone/>
            </a:pPr>
            <a:r>
              <a:rPr lang="en" sz="1300">
                <a:solidFill>
                  <a:srgbClr val="434343"/>
                </a:solidFill>
                <a:latin typeface="Roboto Condensed Light"/>
                <a:ea typeface="Roboto Condensed Light"/>
                <a:cs typeface="Roboto Condensed Light"/>
                <a:sym typeface="Roboto Condensed Light"/>
              </a:rPr>
              <a:t>T</a:t>
            </a:r>
            <a:r>
              <a:rPr lang="en" sz="1300">
                <a:solidFill>
                  <a:srgbClr val="434343"/>
                </a:solidFill>
                <a:latin typeface="Roboto Condensed Light"/>
                <a:ea typeface="Roboto Condensed Light"/>
                <a:cs typeface="Roboto Condensed Light"/>
                <a:sym typeface="Roboto Condensed Light"/>
              </a:rPr>
              <a:t>rần Huy Phước - 2570482</a:t>
            </a:r>
            <a:endParaRPr sz="13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300"/>
              <a:buFont typeface="Roboto Condensed Light"/>
              <a:buNone/>
            </a:pPr>
            <a:r>
              <a:rPr lang="en" sz="1300">
                <a:solidFill>
                  <a:srgbClr val="434343"/>
                </a:solidFill>
                <a:latin typeface="Roboto Condensed Light"/>
                <a:ea typeface="Roboto Condensed Light"/>
                <a:cs typeface="Roboto Condensed Light"/>
                <a:sym typeface="Roboto Condensed Light"/>
              </a:rPr>
              <a:t> Lê Thành Đạt - 2370497</a:t>
            </a:r>
            <a:endParaRPr sz="13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300"/>
              <a:buFont typeface="Roboto Condensed Light"/>
              <a:buNone/>
            </a:pPr>
            <a:r>
              <a:rPr lang="en" sz="1300">
                <a:solidFill>
                  <a:srgbClr val="434343"/>
                </a:solidFill>
                <a:latin typeface="Roboto Condensed Light"/>
                <a:ea typeface="Roboto Condensed Light"/>
                <a:cs typeface="Roboto Condensed Light"/>
                <a:sym typeface="Roboto Condensed Light"/>
              </a:rPr>
              <a:t> Phạm Minh Quang - 2570302</a:t>
            </a:r>
            <a:endParaRPr b="0" i="0" sz="13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434343"/>
              </a:buClr>
              <a:buSzPts val="1300"/>
              <a:buFont typeface="Roboto Condensed Light"/>
              <a:buNone/>
            </a:pPr>
            <a:r>
              <a:t/>
            </a:r>
            <a:endParaRPr b="0" i="0" sz="1300" u="none" cap="none" strike="noStrike">
              <a:solidFill>
                <a:srgbClr val="000000"/>
              </a:solidFill>
              <a:latin typeface="Arial"/>
              <a:ea typeface="Arial"/>
              <a:cs typeface="Arial"/>
              <a:sym typeface="Arial"/>
            </a:endParaRPr>
          </a:p>
        </p:txBody>
      </p:sp>
      <p:cxnSp>
        <p:nvCxnSpPr>
          <p:cNvPr id="60" name="Google Shape;60;p1"/>
          <p:cNvCxnSpPr/>
          <p:nvPr/>
        </p:nvCxnSpPr>
        <p:spPr>
          <a:xfrm>
            <a:off x="6676920" y="3175920"/>
            <a:ext cx="2466360" cy="6480"/>
          </a:xfrm>
          <a:prstGeom prst="straightConnector1">
            <a:avLst/>
          </a:prstGeom>
          <a:noFill/>
          <a:ln cap="flat" cmpd="sng" w="9525">
            <a:solidFill>
              <a:srgbClr val="434343"/>
            </a:solidFill>
            <a:prstDash val="solid"/>
            <a:round/>
            <a:headEnd len="sm" w="sm" type="none"/>
            <a:tailEnd len="sm" w="sm" type="none"/>
          </a:ln>
        </p:spPr>
      </p:cxnSp>
      <p:sp>
        <p:nvSpPr>
          <p:cNvPr id="61" name="Google Shape;61;p1"/>
          <p:cNvSpPr/>
          <p:nvPr/>
        </p:nvSpPr>
        <p:spPr>
          <a:xfrm>
            <a:off x="3986875" y="13360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62" name="Google Shape;62;p1"/>
          <p:cNvPicPr preferRelativeResize="0"/>
          <p:nvPr/>
        </p:nvPicPr>
        <p:blipFill rotWithShape="1">
          <a:blip r:embed="rId3">
            <a:alphaModFix/>
          </a:blip>
          <a:srcRect b="24533" l="0" r="-10" t="0"/>
          <a:stretch/>
        </p:blipFill>
        <p:spPr>
          <a:xfrm>
            <a:off x="8025525" y="261753"/>
            <a:ext cx="350299" cy="342899"/>
          </a:xfrm>
          <a:prstGeom prst="rect">
            <a:avLst/>
          </a:prstGeom>
          <a:noFill/>
          <a:ln>
            <a:noFill/>
          </a:ln>
        </p:spPr>
      </p:pic>
      <p:sp>
        <p:nvSpPr>
          <p:cNvPr id="63" name="Google Shape;63;p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2"/>
          <p:cNvSpPr txBox="1"/>
          <p:nvPr>
            <p:ph idx="4294967295" type="title"/>
          </p:nvPr>
        </p:nvSpPr>
        <p:spPr>
          <a:xfrm>
            <a:off x="3277800" y="1990800"/>
            <a:ext cx="2557200" cy="9396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Clr>
                <a:srgbClr val="434343"/>
              </a:buClr>
              <a:buSzPts val="2800"/>
              <a:buFont typeface="Exo 2"/>
              <a:buNone/>
            </a:pPr>
            <a:r>
              <a:rPr b="1" i="0" lang="en" sz="2800" u="none" cap="none" strike="noStrike">
                <a:solidFill>
                  <a:srgbClr val="434343"/>
                </a:solidFill>
                <a:latin typeface="Exo 2"/>
                <a:ea typeface="Exo 2"/>
                <a:cs typeface="Exo 2"/>
                <a:sym typeface="Exo 2"/>
              </a:rPr>
              <a:t>TABLE OF CONTENTS</a:t>
            </a:r>
            <a:endParaRPr b="0" i="0" sz="2800" u="none" cap="none" strike="noStrike">
              <a:latin typeface="Arial"/>
              <a:ea typeface="Arial"/>
              <a:cs typeface="Arial"/>
              <a:sym typeface="Arial"/>
            </a:endParaRPr>
          </a:p>
        </p:txBody>
      </p:sp>
      <p:sp>
        <p:nvSpPr>
          <p:cNvPr id="69" name="Google Shape;69;p2"/>
          <p:cNvSpPr txBox="1"/>
          <p:nvPr>
            <p:ph idx="4294967295" type="title"/>
          </p:nvPr>
        </p:nvSpPr>
        <p:spPr>
          <a:xfrm>
            <a:off x="2022990" y="2401225"/>
            <a:ext cx="1101300" cy="57120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i="0" lang="en" sz="3600" u="none" cap="none" strike="noStrike">
                <a:solidFill>
                  <a:srgbClr val="434343"/>
                </a:solidFill>
                <a:latin typeface="Exo 2"/>
                <a:ea typeface="Exo 2"/>
                <a:cs typeface="Exo 2"/>
                <a:sym typeface="Exo 2"/>
              </a:rPr>
              <a:t>0</a:t>
            </a:r>
            <a:r>
              <a:rPr b="1" lang="en" sz="3600">
                <a:solidFill>
                  <a:srgbClr val="434343"/>
                </a:solidFill>
                <a:latin typeface="Exo 2"/>
                <a:ea typeface="Exo 2"/>
                <a:cs typeface="Exo 2"/>
                <a:sym typeface="Exo 2"/>
              </a:rPr>
              <a:t>3</a:t>
            </a:r>
            <a:endParaRPr b="0" i="0" sz="3600" u="none" cap="none" strike="noStrike">
              <a:latin typeface="Arial"/>
              <a:ea typeface="Arial"/>
              <a:cs typeface="Arial"/>
              <a:sym typeface="Arial"/>
            </a:endParaRPr>
          </a:p>
        </p:txBody>
      </p:sp>
      <p:sp>
        <p:nvSpPr>
          <p:cNvPr id="70" name="Google Shape;70;p2"/>
          <p:cNvSpPr txBox="1"/>
          <p:nvPr>
            <p:ph idx="4294967295" type="title"/>
          </p:nvPr>
        </p:nvSpPr>
        <p:spPr>
          <a:xfrm>
            <a:off x="246240" y="165600"/>
            <a:ext cx="1967760" cy="571320"/>
          </a:xfrm>
          <a:prstGeom prst="rect">
            <a:avLst/>
          </a:prstGeom>
          <a:noFill/>
          <a:ln>
            <a:noFill/>
          </a:ln>
        </p:spPr>
        <p:txBody>
          <a:bodyPr anchorCtr="0" anchor="b" bIns="91425" lIns="90000" spcFirstLastPara="1" rIns="90000" wrap="square" tIns="91425">
            <a:noAutofit/>
          </a:bodyPr>
          <a:lstStyle/>
          <a:p>
            <a:pPr indent="0" lvl="0" marL="0" marR="0" rtl="0" algn="r">
              <a:lnSpc>
                <a:spcPct val="100000"/>
              </a:lnSpc>
              <a:spcBef>
                <a:spcPts val="0"/>
              </a:spcBef>
              <a:spcAft>
                <a:spcPts val="0"/>
              </a:spcAft>
              <a:buClr>
                <a:srgbClr val="434343"/>
              </a:buClr>
              <a:buSzPts val="1500"/>
              <a:buFont typeface="Exo 2"/>
              <a:buNone/>
            </a:pPr>
            <a:r>
              <a:rPr b="1" i="0" lang="en" sz="1500" u="none" cap="none" strike="noStrike">
                <a:solidFill>
                  <a:srgbClr val="434343"/>
                </a:solidFill>
                <a:latin typeface="Exo 2"/>
                <a:ea typeface="Exo 2"/>
                <a:cs typeface="Exo 2"/>
                <a:sym typeface="Exo 2"/>
              </a:rPr>
              <a:t>INTRODUCTION</a:t>
            </a:r>
            <a:endParaRPr b="0" i="0" sz="1500" u="none" cap="none" strike="noStrike">
              <a:latin typeface="Arial"/>
              <a:ea typeface="Arial"/>
              <a:cs typeface="Arial"/>
              <a:sym typeface="Arial"/>
            </a:endParaRPr>
          </a:p>
        </p:txBody>
      </p:sp>
      <p:sp>
        <p:nvSpPr>
          <p:cNvPr id="71" name="Google Shape;71;p2"/>
          <p:cNvSpPr txBox="1"/>
          <p:nvPr>
            <p:ph idx="4294967295" type="subTitle"/>
          </p:nvPr>
        </p:nvSpPr>
        <p:spPr>
          <a:xfrm>
            <a:off x="158975" y="736915"/>
            <a:ext cx="2142300" cy="565800"/>
          </a:xfrm>
          <a:prstGeom prst="rect">
            <a:avLst/>
          </a:prstGeom>
          <a:noFill/>
          <a:ln>
            <a:noFill/>
          </a:ln>
        </p:spPr>
        <p:txBody>
          <a:bodyPr anchorCtr="0" anchor="ctr" bIns="91425" lIns="0" spcFirstLastPara="1" rIns="0" wrap="square" tIns="91425">
            <a:noAutofit/>
          </a:bodyPr>
          <a:lstStyle/>
          <a:p>
            <a:pPr indent="0" lvl="0" marL="0" marR="0" rtl="0" algn="r">
              <a:lnSpc>
                <a:spcPct val="100000"/>
              </a:lnSpc>
              <a:spcBef>
                <a:spcPts val="0"/>
              </a:spcBef>
              <a:spcAft>
                <a:spcPts val="0"/>
              </a:spcAft>
              <a:buClr>
                <a:srgbClr val="434343"/>
              </a:buClr>
              <a:buSzPts val="1200"/>
              <a:buFont typeface="Roboto Condensed Light"/>
              <a:buNone/>
            </a:pPr>
            <a:r>
              <a:rPr lang="en" sz="1200">
                <a:solidFill>
                  <a:srgbClr val="434343"/>
                </a:solidFill>
                <a:latin typeface="Roboto Condensed Light"/>
                <a:ea typeface="Roboto Condensed Light"/>
                <a:cs typeface="Roboto Condensed Light"/>
                <a:sym typeface="Roboto Condensed Light"/>
              </a:rPr>
              <a:t>Loss Function &amp; Optimization</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200"/>
              <a:buFont typeface="Roboto Condensed Light"/>
              <a:buNone/>
            </a:pPr>
            <a:r>
              <a:rPr lang="en" sz="1200">
                <a:solidFill>
                  <a:srgbClr val="434343"/>
                </a:solidFill>
                <a:latin typeface="Roboto Condensed Light"/>
                <a:ea typeface="Roboto Condensed Light"/>
                <a:cs typeface="Roboto Condensed Light"/>
                <a:sym typeface="Roboto Condensed Light"/>
              </a:rPr>
              <a:t>Issues with optimization </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2" name="Google Shape;72;p2"/>
          <p:cNvSpPr txBox="1"/>
          <p:nvPr>
            <p:ph idx="4294967295" type="title"/>
          </p:nvPr>
        </p:nvSpPr>
        <p:spPr>
          <a:xfrm>
            <a:off x="1974600" y="570960"/>
            <a:ext cx="1101240" cy="57132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i="0" lang="en" sz="3600" u="none" cap="none" strike="noStrike">
                <a:solidFill>
                  <a:srgbClr val="434343"/>
                </a:solidFill>
                <a:latin typeface="Exo 2"/>
                <a:ea typeface="Exo 2"/>
                <a:cs typeface="Exo 2"/>
                <a:sym typeface="Exo 2"/>
              </a:rPr>
              <a:t>01</a:t>
            </a:r>
            <a:endParaRPr b="0" i="0" sz="3600" u="none" cap="none" strike="noStrike">
              <a:latin typeface="Arial"/>
              <a:ea typeface="Arial"/>
              <a:cs typeface="Arial"/>
              <a:sym typeface="Arial"/>
            </a:endParaRPr>
          </a:p>
        </p:txBody>
      </p:sp>
      <p:sp>
        <p:nvSpPr>
          <p:cNvPr id="73" name="Google Shape;73;p2"/>
          <p:cNvSpPr txBox="1"/>
          <p:nvPr>
            <p:ph idx="4294967295" type="title"/>
          </p:nvPr>
        </p:nvSpPr>
        <p:spPr>
          <a:xfrm>
            <a:off x="144000" y="2401233"/>
            <a:ext cx="2214000" cy="571200"/>
          </a:xfrm>
          <a:prstGeom prst="rect">
            <a:avLst/>
          </a:prstGeom>
          <a:noFill/>
          <a:ln>
            <a:noFill/>
          </a:ln>
        </p:spPr>
        <p:txBody>
          <a:bodyPr anchorCtr="0" anchor="b" bIns="91425" lIns="90000" spcFirstLastPara="1" rIns="90000" wrap="square" tIns="91425">
            <a:noAutofit/>
          </a:bodyPr>
          <a:lstStyle/>
          <a:p>
            <a:pPr indent="0" lvl="0" marL="0" marR="0" rtl="0" algn="r">
              <a:lnSpc>
                <a:spcPct val="100000"/>
              </a:lnSpc>
              <a:spcBef>
                <a:spcPts val="0"/>
              </a:spcBef>
              <a:spcAft>
                <a:spcPts val="0"/>
              </a:spcAft>
              <a:buClr>
                <a:srgbClr val="434343"/>
              </a:buClr>
              <a:buSzPts val="1500"/>
              <a:buFont typeface="Exo 2"/>
              <a:buNone/>
            </a:pPr>
            <a:r>
              <a:rPr b="1" lang="en" sz="1500">
                <a:solidFill>
                  <a:srgbClr val="434343"/>
                </a:solidFill>
                <a:latin typeface="Exo 2"/>
                <a:ea typeface="Exo 2"/>
                <a:cs typeface="Exo 2"/>
                <a:sym typeface="Exo 2"/>
              </a:rPr>
              <a:t>ADAGRAD</a:t>
            </a:r>
            <a:endParaRPr b="0" i="0" sz="1500" u="none" cap="none" strike="noStrike">
              <a:latin typeface="Arial"/>
              <a:ea typeface="Arial"/>
              <a:cs typeface="Arial"/>
              <a:sym typeface="Arial"/>
            </a:endParaRPr>
          </a:p>
        </p:txBody>
      </p:sp>
      <p:sp>
        <p:nvSpPr>
          <p:cNvPr id="74" name="Google Shape;74;p2"/>
          <p:cNvSpPr txBox="1"/>
          <p:nvPr>
            <p:ph idx="4294967295" type="subTitle"/>
          </p:nvPr>
        </p:nvSpPr>
        <p:spPr>
          <a:xfrm>
            <a:off x="72000" y="2921526"/>
            <a:ext cx="2142300" cy="775200"/>
          </a:xfrm>
          <a:prstGeom prst="rect">
            <a:avLst/>
          </a:prstGeom>
          <a:noFill/>
          <a:ln>
            <a:noFill/>
          </a:ln>
        </p:spPr>
        <p:txBody>
          <a:bodyPr anchorCtr="0" anchor="t" bIns="91425" lIns="0" spcFirstLastPara="1" rIns="0" wrap="square" tIns="91425">
            <a:noAutofit/>
          </a:bodyPr>
          <a:lstStyle/>
          <a:p>
            <a:pPr indent="0" lvl="0" marL="0" marR="0" rtl="0" algn="r">
              <a:lnSpc>
                <a:spcPct val="100000"/>
              </a:lnSpc>
              <a:spcBef>
                <a:spcPts val="0"/>
              </a:spcBef>
              <a:spcAft>
                <a:spcPts val="0"/>
              </a:spcAft>
              <a:buClr>
                <a:srgbClr val="000000"/>
              </a:buClr>
              <a:buSzPts val="1200"/>
              <a:buFont typeface="Arial"/>
              <a:buNone/>
            </a:pPr>
            <a:r>
              <a:rPr lang="en" sz="1200">
                <a:solidFill>
                  <a:srgbClr val="434343"/>
                </a:solidFill>
                <a:latin typeface="Roboto Condensed Light"/>
                <a:ea typeface="Roboto Condensed Light"/>
                <a:cs typeface="Roboto Condensed Light"/>
                <a:sym typeface="Roboto Condensed Light"/>
              </a:rPr>
              <a:t>Motivation</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000000"/>
              </a:buClr>
              <a:buSzPts val="1200"/>
              <a:buFont typeface="Arial"/>
              <a:buNone/>
            </a:pPr>
            <a:r>
              <a:rPr lang="en" sz="1200">
                <a:solidFill>
                  <a:srgbClr val="434343"/>
                </a:solidFill>
                <a:latin typeface="Roboto Condensed Light"/>
                <a:ea typeface="Roboto Condensed Light"/>
                <a:cs typeface="Roboto Condensed Light"/>
                <a:sym typeface="Roboto Condensed Light"/>
              </a:rPr>
              <a:t>Preconditioning</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000000"/>
              </a:buClr>
              <a:buSzPts val="1200"/>
              <a:buFont typeface="Arial"/>
              <a:buNone/>
            </a:pPr>
            <a:r>
              <a:rPr lang="en" sz="1200">
                <a:solidFill>
                  <a:srgbClr val="434343"/>
                </a:solidFill>
                <a:latin typeface="Roboto Condensed Light"/>
                <a:ea typeface="Roboto Condensed Light"/>
                <a:cs typeface="Roboto Condensed Light"/>
                <a:sym typeface="Roboto Condensed Light"/>
              </a:rPr>
              <a:t>The </a:t>
            </a:r>
            <a:r>
              <a:rPr lang="en" sz="1200">
                <a:solidFill>
                  <a:srgbClr val="434343"/>
                </a:solidFill>
                <a:latin typeface="Roboto Condensed Light"/>
                <a:ea typeface="Roboto Condensed Light"/>
                <a:cs typeface="Roboto Condensed Light"/>
                <a:sym typeface="Roboto Condensed Light"/>
              </a:rPr>
              <a:t>Algorithm</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000000"/>
              </a:buClr>
              <a:buSzPts val="1200"/>
              <a:buFont typeface="Arial"/>
              <a:buNone/>
            </a:pPr>
            <a:r>
              <a:rPr lang="en" sz="1200">
                <a:solidFill>
                  <a:srgbClr val="434343"/>
                </a:solidFill>
                <a:latin typeface="Roboto Condensed Light"/>
                <a:ea typeface="Roboto Condensed Light"/>
                <a:cs typeface="Roboto Condensed Light"/>
                <a:sym typeface="Roboto Condensed Light"/>
              </a:rPr>
              <a:t>Exercise</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000000"/>
              </a:buClr>
              <a:buSzPts val="1200"/>
              <a:buFont typeface="Arial"/>
              <a:buNone/>
            </a:pPr>
            <a:r>
              <a:t/>
            </a:r>
            <a:endParaRPr sz="1200">
              <a:solidFill>
                <a:srgbClr val="434343"/>
              </a:solidFill>
              <a:latin typeface="Roboto Condensed Light"/>
              <a:ea typeface="Roboto Condensed Light"/>
              <a:cs typeface="Roboto Condensed Light"/>
              <a:sym typeface="Roboto Condensed Light"/>
            </a:endParaRPr>
          </a:p>
        </p:txBody>
      </p:sp>
      <p:cxnSp>
        <p:nvCxnSpPr>
          <p:cNvPr id="75" name="Google Shape;75;p2"/>
          <p:cNvCxnSpPr/>
          <p:nvPr/>
        </p:nvCxnSpPr>
        <p:spPr>
          <a:xfrm>
            <a:off x="3296880" y="0"/>
            <a:ext cx="6480" cy="2400120"/>
          </a:xfrm>
          <a:prstGeom prst="straightConnector1">
            <a:avLst/>
          </a:prstGeom>
          <a:noFill/>
          <a:ln cap="flat" cmpd="sng" w="9525">
            <a:solidFill>
              <a:srgbClr val="595959"/>
            </a:solidFill>
            <a:prstDash val="solid"/>
            <a:round/>
            <a:headEnd len="sm" w="sm" type="none"/>
            <a:tailEnd len="sm" w="sm" type="none"/>
          </a:ln>
        </p:spPr>
      </p:cxnSp>
      <p:cxnSp>
        <p:nvCxnSpPr>
          <p:cNvPr id="76" name="Google Shape;76;p2"/>
          <p:cNvCxnSpPr/>
          <p:nvPr/>
        </p:nvCxnSpPr>
        <p:spPr>
          <a:xfrm>
            <a:off x="5861880" y="3131280"/>
            <a:ext cx="6600" cy="2036400"/>
          </a:xfrm>
          <a:prstGeom prst="straightConnector1">
            <a:avLst/>
          </a:prstGeom>
          <a:noFill/>
          <a:ln cap="flat" cmpd="sng" w="9525">
            <a:solidFill>
              <a:srgbClr val="595959"/>
            </a:solidFill>
            <a:prstDash val="solid"/>
            <a:round/>
            <a:headEnd len="sm" w="sm" type="none"/>
            <a:tailEnd len="sm" w="sm" type="none"/>
          </a:ln>
        </p:spPr>
      </p:cxnSp>
      <p:sp>
        <p:nvSpPr>
          <p:cNvPr id="77" name="Google Shape;77;p2"/>
          <p:cNvSpPr txBox="1"/>
          <p:nvPr>
            <p:ph idx="4294967295" type="title"/>
          </p:nvPr>
        </p:nvSpPr>
        <p:spPr>
          <a:xfrm>
            <a:off x="2022990" y="1449141"/>
            <a:ext cx="1101300" cy="57120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i="0" lang="en" sz="3600" u="none" cap="none" strike="noStrike">
                <a:solidFill>
                  <a:srgbClr val="434343"/>
                </a:solidFill>
                <a:latin typeface="Exo 2"/>
                <a:ea typeface="Exo 2"/>
                <a:cs typeface="Exo 2"/>
                <a:sym typeface="Exo 2"/>
              </a:rPr>
              <a:t>0</a:t>
            </a:r>
            <a:r>
              <a:rPr b="1" lang="en" sz="3600">
                <a:solidFill>
                  <a:srgbClr val="434343"/>
                </a:solidFill>
                <a:latin typeface="Exo 2"/>
                <a:ea typeface="Exo 2"/>
                <a:cs typeface="Exo 2"/>
                <a:sym typeface="Exo 2"/>
              </a:rPr>
              <a:t>2</a:t>
            </a:r>
            <a:endParaRPr b="0" i="0" sz="3600" u="none" cap="none" strike="noStrike">
              <a:latin typeface="Arial"/>
              <a:ea typeface="Arial"/>
              <a:cs typeface="Arial"/>
              <a:sym typeface="Arial"/>
            </a:endParaRPr>
          </a:p>
        </p:txBody>
      </p:sp>
      <p:sp>
        <p:nvSpPr>
          <p:cNvPr id="78" name="Google Shape;78;p2"/>
          <p:cNvSpPr txBox="1"/>
          <p:nvPr>
            <p:ph idx="4294967295" type="title"/>
          </p:nvPr>
        </p:nvSpPr>
        <p:spPr>
          <a:xfrm>
            <a:off x="109950" y="1433661"/>
            <a:ext cx="2214000" cy="571200"/>
          </a:xfrm>
          <a:prstGeom prst="rect">
            <a:avLst/>
          </a:prstGeom>
          <a:noFill/>
          <a:ln>
            <a:noFill/>
          </a:ln>
        </p:spPr>
        <p:txBody>
          <a:bodyPr anchorCtr="0" anchor="b" bIns="91425" lIns="90000" spcFirstLastPara="1" rIns="90000" wrap="square" tIns="91425">
            <a:noAutofit/>
          </a:bodyPr>
          <a:lstStyle/>
          <a:p>
            <a:pPr indent="0" lvl="0" marL="0" marR="0" rtl="0" algn="r">
              <a:lnSpc>
                <a:spcPct val="100000"/>
              </a:lnSpc>
              <a:spcBef>
                <a:spcPts val="0"/>
              </a:spcBef>
              <a:spcAft>
                <a:spcPts val="0"/>
              </a:spcAft>
              <a:buClr>
                <a:srgbClr val="434343"/>
              </a:buClr>
              <a:buSzPts val="1500"/>
              <a:buFont typeface="Exo 2"/>
              <a:buNone/>
            </a:pPr>
            <a:r>
              <a:rPr b="1" lang="en" sz="1500">
                <a:solidFill>
                  <a:srgbClr val="434343"/>
                </a:solidFill>
                <a:latin typeface="Exo 2"/>
                <a:ea typeface="Exo 2"/>
                <a:cs typeface="Exo 2"/>
                <a:sym typeface="Exo 2"/>
              </a:rPr>
              <a:t>SPARSE FEATURES</a:t>
            </a:r>
            <a:endParaRPr b="0" i="0" sz="1500" u="none" cap="none" strike="noStrike">
              <a:latin typeface="Arial"/>
              <a:ea typeface="Arial"/>
              <a:cs typeface="Arial"/>
              <a:sym typeface="Arial"/>
            </a:endParaRPr>
          </a:p>
        </p:txBody>
      </p:sp>
      <p:sp>
        <p:nvSpPr>
          <p:cNvPr id="79" name="Google Shape;79;p2"/>
          <p:cNvSpPr txBox="1"/>
          <p:nvPr>
            <p:ph idx="4294967295" type="subTitle"/>
          </p:nvPr>
        </p:nvSpPr>
        <p:spPr>
          <a:xfrm>
            <a:off x="246250" y="1919401"/>
            <a:ext cx="2142300" cy="775200"/>
          </a:xfrm>
          <a:prstGeom prst="rect">
            <a:avLst/>
          </a:prstGeom>
          <a:noFill/>
          <a:ln>
            <a:noFill/>
          </a:ln>
        </p:spPr>
        <p:txBody>
          <a:bodyPr anchorCtr="0" anchor="t" bIns="91425" lIns="0" spcFirstLastPara="1" rIns="0" wrap="square" tIns="91425">
            <a:noAutofit/>
          </a:bodyPr>
          <a:lstStyle/>
          <a:p>
            <a:pPr indent="0" lvl="0" marL="0" marR="0" rtl="0" algn="r">
              <a:lnSpc>
                <a:spcPct val="100000"/>
              </a:lnSpc>
              <a:spcBef>
                <a:spcPts val="0"/>
              </a:spcBef>
              <a:spcAft>
                <a:spcPts val="0"/>
              </a:spcAft>
              <a:buClr>
                <a:srgbClr val="434343"/>
              </a:buClr>
              <a:buSzPts val="1200"/>
              <a:buFont typeface="Roboto Condensed Light"/>
              <a:buNone/>
            </a:pPr>
            <a:r>
              <a:rPr lang="en" sz="1200">
                <a:solidFill>
                  <a:srgbClr val="434343"/>
                </a:solidFill>
                <a:latin typeface="Roboto Condensed Light"/>
                <a:ea typeface="Roboto Condensed Light"/>
                <a:cs typeface="Roboto Condensed Light"/>
                <a:sym typeface="Roboto Condensed Light"/>
              </a:rPr>
              <a:t>What is it ?</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434343"/>
              </a:buClr>
              <a:buSzPts val="1200"/>
              <a:buFont typeface="Roboto Condensed Light"/>
              <a:buNone/>
            </a:pPr>
            <a:r>
              <a:rPr lang="en" sz="1200">
                <a:solidFill>
                  <a:srgbClr val="434343"/>
                </a:solidFill>
                <a:latin typeface="Roboto Condensed Light"/>
                <a:ea typeface="Roboto Condensed Light"/>
                <a:cs typeface="Roboto Condensed Light"/>
                <a:sym typeface="Roboto Condensed Light"/>
              </a:rPr>
              <a:t>Why SGD struggle with it? </a:t>
            </a:r>
            <a:endParaRPr sz="1200">
              <a:solidFill>
                <a:srgbClr val="434343"/>
              </a:solidFill>
              <a:latin typeface="Roboto Condensed Light"/>
              <a:ea typeface="Roboto Condensed Light"/>
              <a:cs typeface="Roboto Condensed Light"/>
              <a:sym typeface="Roboto Condensed Light"/>
            </a:endParaRPr>
          </a:p>
          <a:p>
            <a:pPr indent="0" lvl="0" marL="0" marR="0" rtl="0" algn="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0" name="Google Shape;80;p2"/>
          <p:cNvSpPr txBox="1"/>
          <p:nvPr>
            <p:ph idx="4294967295" type="title"/>
          </p:nvPr>
        </p:nvSpPr>
        <p:spPr>
          <a:xfrm>
            <a:off x="5901765" y="2930400"/>
            <a:ext cx="1101300" cy="57120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i="0" lang="en" sz="3600" u="none" cap="none" strike="noStrike">
                <a:solidFill>
                  <a:srgbClr val="434343"/>
                </a:solidFill>
                <a:latin typeface="Exo 2"/>
                <a:ea typeface="Exo 2"/>
                <a:cs typeface="Exo 2"/>
                <a:sym typeface="Exo 2"/>
              </a:rPr>
              <a:t>0</a:t>
            </a:r>
            <a:r>
              <a:rPr b="1" lang="en" sz="3600">
                <a:solidFill>
                  <a:srgbClr val="434343"/>
                </a:solidFill>
                <a:latin typeface="Exo 2"/>
                <a:ea typeface="Exo 2"/>
                <a:cs typeface="Exo 2"/>
                <a:sym typeface="Exo 2"/>
              </a:rPr>
              <a:t>4</a:t>
            </a:r>
            <a:endParaRPr b="0" i="0" sz="3600" u="none" cap="none" strike="noStrike">
              <a:latin typeface="Arial"/>
              <a:ea typeface="Arial"/>
              <a:cs typeface="Arial"/>
              <a:sym typeface="Arial"/>
            </a:endParaRPr>
          </a:p>
        </p:txBody>
      </p:sp>
      <p:sp>
        <p:nvSpPr>
          <p:cNvPr id="81" name="Google Shape;81;p2"/>
          <p:cNvSpPr txBox="1"/>
          <p:nvPr>
            <p:ph idx="4294967295" type="title"/>
          </p:nvPr>
        </p:nvSpPr>
        <p:spPr>
          <a:xfrm>
            <a:off x="6285775" y="2930400"/>
            <a:ext cx="1490700" cy="571200"/>
          </a:xfrm>
          <a:prstGeom prst="rect">
            <a:avLst/>
          </a:prstGeom>
          <a:noFill/>
          <a:ln>
            <a:noFill/>
          </a:ln>
        </p:spPr>
        <p:txBody>
          <a:bodyPr anchorCtr="0" anchor="b" bIns="91425" lIns="90000" spcFirstLastPara="1" rIns="90000" wrap="square" tIns="91425">
            <a:noAutofit/>
          </a:bodyPr>
          <a:lstStyle/>
          <a:p>
            <a:pPr indent="0" lvl="0" marL="0" marR="0" rtl="0" algn="r">
              <a:lnSpc>
                <a:spcPct val="100000"/>
              </a:lnSpc>
              <a:spcBef>
                <a:spcPts val="0"/>
              </a:spcBef>
              <a:spcAft>
                <a:spcPts val="0"/>
              </a:spcAft>
              <a:buClr>
                <a:srgbClr val="434343"/>
              </a:buClr>
              <a:buSzPts val="1500"/>
              <a:buFont typeface="Exo 2"/>
              <a:buNone/>
            </a:pPr>
            <a:r>
              <a:rPr b="1" lang="en" sz="2200">
                <a:solidFill>
                  <a:srgbClr val="434343"/>
                </a:solidFill>
                <a:latin typeface="Exo 2"/>
                <a:ea typeface="Exo 2"/>
                <a:cs typeface="Exo 2"/>
                <a:sym typeface="Exo 2"/>
              </a:rPr>
              <a:t>Q&amp;A</a:t>
            </a:r>
            <a:endParaRPr b="0" i="0" sz="2200" u="none" cap="none" strike="noStrike">
              <a:latin typeface="Arial"/>
              <a:ea typeface="Arial"/>
              <a:cs typeface="Arial"/>
              <a:sym typeface="Arial"/>
            </a:endParaRPr>
          </a:p>
        </p:txBody>
      </p:sp>
      <p:sp>
        <p:nvSpPr>
          <p:cNvPr id="82" name="Google Shape;8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txBox="1"/>
          <p:nvPr>
            <p:ph idx="4294967295" type="title"/>
          </p:nvPr>
        </p:nvSpPr>
        <p:spPr>
          <a:xfrm>
            <a:off x="919080" y="3078000"/>
            <a:ext cx="7533000" cy="10155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Clr>
                <a:srgbClr val="434343"/>
              </a:buClr>
              <a:buSzPts val="3600"/>
              <a:buFont typeface="Exo 2"/>
              <a:buNone/>
            </a:pPr>
            <a:r>
              <a:rPr b="1" i="0" lang="en" sz="3600" u="none" cap="none" strike="noStrike">
                <a:solidFill>
                  <a:srgbClr val="434343"/>
                </a:solidFill>
                <a:latin typeface="Exo 2"/>
                <a:ea typeface="Exo 2"/>
                <a:cs typeface="Exo 2"/>
                <a:sym typeface="Exo 2"/>
              </a:rPr>
              <a:t>INTRODUCTION</a:t>
            </a:r>
            <a:endParaRPr b="0" i="0" sz="3600" u="none" cap="none" strike="noStrike">
              <a:latin typeface="Arial"/>
              <a:ea typeface="Arial"/>
              <a:cs typeface="Arial"/>
              <a:sym typeface="Arial"/>
            </a:endParaRPr>
          </a:p>
        </p:txBody>
      </p:sp>
      <p:sp>
        <p:nvSpPr>
          <p:cNvPr id="88" name="Google Shape;88;p3"/>
          <p:cNvSpPr txBox="1"/>
          <p:nvPr>
            <p:ph idx="4294967295" type="title"/>
          </p:nvPr>
        </p:nvSpPr>
        <p:spPr>
          <a:xfrm>
            <a:off x="919448" y="2323800"/>
            <a:ext cx="7358700" cy="7482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Clr>
                <a:srgbClr val="434343"/>
              </a:buClr>
              <a:buSzPts val="9600"/>
              <a:buFont typeface="Exo 2"/>
              <a:buNone/>
            </a:pPr>
            <a:r>
              <a:rPr b="1" i="0" lang="en" sz="9600" u="none" cap="none" strike="noStrike">
                <a:solidFill>
                  <a:srgbClr val="434343"/>
                </a:solidFill>
                <a:latin typeface="Exo 2"/>
                <a:ea typeface="Exo 2"/>
                <a:cs typeface="Exo 2"/>
                <a:sym typeface="Exo 2"/>
              </a:rPr>
              <a:t>01</a:t>
            </a:r>
            <a:endParaRPr b="0" i="0" sz="9600" u="none" cap="none" strike="noStrike">
              <a:latin typeface="Arial"/>
              <a:ea typeface="Arial"/>
              <a:cs typeface="Arial"/>
              <a:sym typeface="Arial"/>
            </a:endParaRPr>
          </a:p>
        </p:txBody>
      </p:sp>
      <p:cxnSp>
        <p:nvCxnSpPr>
          <p:cNvPr id="89" name="Google Shape;89;p3"/>
          <p:cNvCxnSpPr/>
          <p:nvPr/>
        </p:nvCxnSpPr>
        <p:spPr>
          <a:xfrm>
            <a:off x="0" y="3973565"/>
            <a:ext cx="1567800" cy="6600"/>
          </a:xfrm>
          <a:prstGeom prst="straightConnector1">
            <a:avLst/>
          </a:prstGeom>
          <a:noFill/>
          <a:ln cap="flat" cmpd="sng" w="9525">
            <a:solidFill>
              <a:srgbClr val="434343"/>
            </a:solidFill>
            <a:prstDash val="solid"/>
            <a:round/>
            <a:headEnd len="sm" w="sm" type="none"/>
            <a:tailEnd len="sm" w="sm" type="none"/>
          </a:ln>
        </p:spPr>
      </p:cxnSp>
      <p:sp>
        <p:nvSpPr>
          <p:cNvPr id="90" name="Google Shape;90;p3"/>
          <p:cNvSpPr/>
          <p:nvPr/>
        </p:nvSpPr>
        <p:spPr>
          <a:xfrm>
            <a:off x="1832950" y="4053110"/>
            <a:ext cx="2142300" cy="565800"/>
          </a:xfrm>
          <a:prstGeom prst="rect">
            <a:avLst/>
          </a:prstGeom>
          <a:noFill/>
          <a:ln>
            <a:noFill/>
          </a:ln>
        </p:spPr>
        <p:txBody>
          <a:bodyPr anchorCtr="0" anchor="ctr" bIns="91425" lIns="0" spcFirstLastPara="1" rIns="0"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91" name="Google Shape;91;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idx="4294967295" type="title"/>
          </p:nvPr>
        </p:nvSpPr>
        <p:spPr>
          <a:xfrm>
            <a:off x="688800" y="1547860"/>
            <a:ext cx="7766400" cy="20478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Clr>
                <a:srgbClr val="434343"/>
              </a:buClr>
              <a:buSzPts val="4200"/>
              <a:buFont typeface="Exo 2"/>
              <a:buNone/>
            </a:pPr>
            <a:r>
              <a:rPr lang="en" sz="4200"/>
              <a:t>LOSS FUNCTION &amp; OPTIMIZATION</a:t>
            </a:r>
            <a:endParaRPr b="0" i="0" sz="4200" u="none" cap="none" strike="noStrike">
              <a:latin typeface="Arial"/>
              <a:ea typeface="Arial"/>
              <a:cs typeface="Arial"/>
              <a:sym typeface="Arial"/>
            </a:endParaRPr>
          </a:p>
        </p:txBody>
      </p:sp>
      <p:sp>
        <p:nvSpPr>
          <p:cNvPr id="97" name="Google Shape;97;p4"/>
          <p:cNvSpPr/>
          <p:nvPr/>
        </p:nvSpPr>
        <p:spPr>
          <a:xfrm>
            <a:off x="150125" y="3763625"/>
            <a:ext cx="4689900" cy="1380000"/>
          </a:xfrm>
          <a:prstGeom prst="rect">
            <a:avLst/>
          </a:prstGeom>
          <a:noFill/>
          <a:ln>
            <a:noFill/>
          </a:ln>
        </p:spPr>
        <p:txBody>
          <a:bodyPr anchorCtr="0" anchor="t" bIns="91425" lIns="0" spcFirstLastPara="1" rIns="0" wrap="square" tIns="91425">
            <a:noAutofit/>
          </a:bodyPr>
          <a:lstStyle/>
          <a:p>
            <a:pPr indent="45720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98" name="Google Shape;98;p4"/>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99" name="Google Shape;99;p4"/>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100" name="Google Shape;10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aef577f991_1_6"/>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Loss Function &amp; Optimization</a:t>
            </a:r>
            <a:endParaRPr b="1" sz="3200"/>
          </a:p>
        </p:txBody>
      </p:sp>
      <p:sp>
        <p:nvSpPr>
          <p:cNvPr id="106" name="Google Shape;106;g3aef577f991_1_6"/>
          <p:cNvSpPr txBox="1"/>
          <p:nvPr>
            <p:ph idx="1" type="subTitle"/>
          </p:nvPr>
        </p:nvSpPr>
        <p:spPr>
          <a:xfrm>
            <a:off x="517212" y="1480687"/>
            <a:ext cx="8109600" cy="15894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In supervised learning, the training error (or empirical risk) is a mathematical measure of how far the model’s predictions are from the true labels in the training dataset, and is defined 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pic>
        <p:nvPicPr>
          <p:cNvPr id="107" name="Google Shape;107;g3aef577f991_1_6"/>
          <p:cNvPicPr preferRelativeResize="0"/>
          <p:nvPr/>
        </p:nvPicPr>
        <p:blipFill>
          <a:blip r:embed="rId3">
            <a:alphaModFix/>
          </a:blip>
          <a:stretch>
            <a:fillRect/>
          </a:stretch>
        </p:blipFill>
        <p:spPr>
          <a:xfrm>
            <a:off x="1300150" y="2693400"/>
            <a:ext cx="6543675" cy="1143000"/>
          </a:xfrm>
          <a:prstGeom prst="rect">
            <a:avLst/>
          </a:prstGeom>
          <a:noFill/>
          <a:ln>
            <a:noFill/>
          </a:ln>
        </p:spPr>
      </p:pic>
      <p:sp>
        <p:nvSpPr>
          <p:cNvPr id="108" name="Google Shape;108;g3aef577f991_1_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aef577f991_1_14"/>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Gradient</a:t>
            </a:r>
            <a:endParaRPr b="1" sz="3200"/>
          </a:p>
        </p:txBody>
      </p:sp>
      <p:sp>
        <p:nvSpPr>
          <p:cNvPr id="114" name="Google Shape;114;g3aef577f991_1_14"/>
          <p:cNvSpPr txBox="1"/>
          <p:nvPr>
            <p:ph idx="1" type="subTitle"/>
          </p:nvPr>
        </p:nvSpPr>
        <p:spPr>
          <a:xfrm>
            <a:off x="457350" y="752601"/>
            <a:ext cx="8229300" cy="2331600"/>
          </a:xfrm>
          <a:prstGeom prst="rect">
            <a:avLst/>
          </a:prstGeom>
        </p:spPr>
        <p:txBody>
          <a:bodyPr anchorCtr="0" anchor="ctr" bIns="0" lIns="0" spcFirstLastPara="1" rIns="0" wrap="square" tIns="0">
            <a:noAutofit/>
          </a:bodyPr>
          <a:lstStyle/>
          <a:p>
            <a:pPr indent="-317500" lvl="0" marL="457200" rtl="0" algn="l">
              <a:spcBef>
                <a:spcPts val="0"/>
              </a:spcBef>
              <a:spcAft>
                <a:spcPts val="0"/>
              </a:spcAft>
              <a:buClr>
                <a:schemeClr val="dk1"/>
              </a:buClr>
              <a:buSzPts val="1400"/>
              <a:buChar char="●"/>
            </a:pPr>
            <a:r>
              <a:rPr lang="en">
                <a:solidFill>
                  <a:schemeClr val="dk1"/>
                </a:solidFill>
              </a:rPr>
              <a:t>The gradient of a function is a vector of partial derivatives.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The gradient points in the direction of the steepest increase of the function.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pic>
        <p:nvPicPr>
          <p:cNvPr id="115" name="Google Shape;115;g3aef577f991_1_14"/>
          <p:cNvPicPr preferRelativeResize="0"/>
          <p:nvPr/>
        </p:nvPicPr>
        <p:blipFill>
          <a:blip r:embed="rId3">
            <a:alphaModFix/>
          </a:blip>
          <a:stretch>
            <a:fillRect/>
          </a:stretch>
        </p:blipFill>
        <p:spPr>
          <a:xfrm>
            <a:off x="1546351" y="2274495"/>
            <a:ext cx="6050975" cy="1334562"/>
          </a:xfrm>
          <a:prstGeom prst="rect">
            <a:avLst/>
          </a:prstGeom>
          <a:noFill/>
          <a:ln>
            <a:noFill/>
          </a:ln>
        </p:spPr>
      </p:pic>
      <p:sp>
        <p:nvSpPr>
          <p:cNvPr id="116" name="Google Shape;116;g3aef577f991_1_1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aef577f991_1_22"/>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Gradient</a:t>
            </a:r>
            <a:endParaRPr b="1" sz="3200"/>
          </a:p>
        </p:txBody>
      </p:sp>
      <p:sp>
        <p:nvSpPr>
          <p:cNvPr id="122" name="Google Shape;122;g3aef577f991_1_22"/>
          <p:cNvSpPr txBox="1"/>
          <p:nvPr>
            <p:ph idx="1" type="subTitle"/>
          </p:nvPr>
        </p:nvSpPr>
        <p:spPr>
          <a:xfrm>
            <a:off x="457350" y="752030"/>
            <a:ext cx="8229300" cy="2982900"/>
          </a:xfrm>
          <a:prstGeom prst="rect">
            <a:avLst/>
          </a:prstGeom>
        </p:spPr>
        <p:txBody>
          <a:bodyPr anchorCtr="0" anchor="ctr" bIns="0" lIns="0" spcFirstLastPara="1" rIns="0" wrap="square" tIns="0">
            <a:noAutofit/>
          </a:bodyPr>
          <a:lstStyle/>
          <a:p>
            <a:pPr indent="-317500" lvl="0" marL="457200" rtl="0" algn="l">
              <a:lnSpc>
                <a:spcPct val="150000"/>
              </a:lnSpc>
              <a:spcBef>
                <a:spcPts val="0"/>
              </a:spcBef>
              <a:spcAft>
                <a:spcPts val="0"/>
              </a:spcAft>
              <a:buClr>
                <a:schemeClr val="dk1"/>
              </a:buClr>
              <a:buSzPts val="1400"/>
              <a:buChar char="●"/>
            </a:pPr>
            <a:r>
              <a:rPr lang="en">
                <a:solidFill>
                  <a:schemeClr val="dk1"/>
                </a:solidFill>
              </a:rPr>
              <a:t>Given a 2-dimensional function: </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We can calculate the gradient vectors equals: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pic>
        <p:nvPicPr>
          <p:cNvPr id="123" name="Google Shape;123;g3aef577f991_1_22"/>
          <p:cNvPicPr preferRelativeResize="0"/>
          <p:nvPr/>
        </p:nvPicPr>
        <p:blipFill>
          <a:blip r:embed="rId3">
            <a:alphaModFix/>
          </a:blip>
          <a:stretch>
            <a:fillRect/>
          </a:stretch>
        </p:blipFill>
        <p:spPr>
          <a:xfrm>
            <a:off x="4097175" y="1664155"/>
            <a:ext cx="1866900" cy="342900"/>
          </a:xfrm>
          <a:prstGeom prst="rect">
            <a:avLst/>
          </a:prstGeom>
          <a:noFill/>
          <a:ln>
            <a:noFill/>
          </a:ln>
        </p:spPr>
      </p:pic>
      <p:pic>
        <p:nvPicPr>
          <p:cNvPr id="124" name="Google Shape;124;g3aef577f991_1_22"/>
          <p:cNvPicPr preferRelativeResize="0"/>
          <p:nvPr/>
        </p:nvPicPr>
        <p:blipFill>
          <a:blip r:embed="rId4">
            <a:alphaModFix/>
          </a:blip>
          <a:stretch>
            <a:fillRect/>
          </a:stretch>
        </p:blipFill>
        <p:spPr>
          <a:xfrm>
            <a:off x="4001150" y="2270430"/>
            <a:ext cx="1600200" cy="342900"/>
          </a:xfrm>
          <a:prstGeom prst="rect">
            <a:avLst/>
          </a:prstGeom>
          <a:noFill/>
          <a:ln>
            <a:noFill/>
          </a:ln>
        </p:spPr>
      </p:pic>
      <p:sp>
        <p:nvSpPr>
          <p:cNvPr id="125" name="Google Shape;125;g3aef577f991_1_2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aef577f991_1_34"/>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Gradient</a:t>
            </a:r>
            <a:endParaRPr b="1" sz="3200"/>
          </a:p>
        </p:txBody>
      </p:sp>
      <p:pic>
        <p:nvPicPr>
          <p:cNvPr id="131" name="Google Shape;131;g3aef577f991_1_34"/>
          <p:cNvPicPr preferRelativeResize="0"/>
          <p:nvPr/>
        </p:nvPicPr>
        <p:blipFill>
          <a:blip r:embed="rId3">
            <a:alphaModFix/>
          </a:blip>
          <a:stretch>
            <a:fillRect/>
          </a:stretch>
        </p:blipFill>
        <p:spPr>
          <a:xfrm>
            <a:off x="1809603" y="1063800"/>
            <a:ext cx="5402050" cy="3783450"/>
          </a:xfrm>
          <a:prstGeom prst="rect">
            <a:avLst/>
          </a:prstGeom>
          <a:noFill/>
          <a:ln>
            <a:noFill/>
          </a:ln>
        </p:spPr>
      </p:pic>
      <p:sp>
        <p:nvSpPr>
          <p:cNvPr id="132" name="Google Shape;132;g3aef577f991_1_3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aef577f991_1_40"/>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Hessian Matrix</a:t>
            </a:r>
            <a:endParaRPr b="1" sz="3200"/>
          </a:p>
        </p:txBody>
      </p:sp>
      <p:sp>
        <p:nvSpPr>
          <p:cNvPr id="138" name="Google Shape;138;g3aef577f991_1_40"/>
          <p:cNvSpPr txBox="1"/>
          <p:nvPr>
            <p:ph idx="1" type="subTitle"/>
          </p:nvPr>
        </p:nvSpPr>
        <p:spPr>
          <a:xfrm>
            <a:off x="457350" y="719601"/>
            <a:ext cx="8229300" cy="2616900"/>
          </a:xfrm>
          <a:prstGeom prst="rect">
            <a:avLst/>
          </a:prstGeom>
        </p:spPr>
        <p:txBody>
          <a:bodyPr anchorCtr="0" anchor="ctr" bIns="0" lIns="0" spcFirstLastPara="1" rIns="0" wrap="square" tIns="0">
            <a:no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A</a:t>
            </a:r>
            <a:r>
              <a:rPr lang="en">
                <a:solidFill>
                  <a:schemeClr val="dk1"/>
                </a:solidFill>
              </a:rPr>
              <a:t> square matrix of second-order partial derivatives of a scalar-valued function.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Describe the local curvature of a function of multiple variables.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For a function f (X) with n variables X = (x1, x2, ..., xn), the Hessian matrix H is defined as:</a:t>
            </a:r>
            <a:endParaRPr>
              <a:solidFill>
                <a:schemeClr val="dk1"/>
              </a:solidFill>
            </a:endParaRPr>
          </a:p>
          <a:p>
            <a:pPr indent="0" lvl="0" marL="457200" rtl="0" algn="l">
              <a:spcBef>
                <a:spcPts val="0"/>
              </a:spcBef>
              <a:spcAft>
                <a:spcPts val="0"/>
              </a:spcAft>
              <a:buNone/>
            </a:pPr>
            <a:r>
              <a:t/>
            </a:r>
            <a:endParaRPr>
              <a:solidFill>
                <a:schemeClr val="dk1"/>
              </a:solidFill>
            </a:endParaRPr>
          </a:p>
        </p:txBody>
      </p:sp>
      <p:pic>
        <p:nvPicPr>
          <p:cNvPr id="139" name="Google Shape;139;g3aef577f991_1_40"/>
          <p:cNvPicPr preferRelativeResize="0"/>
          <p:nvPr/>
        </p:nvPicPr>
        <p:blipFill>
          <a:blip r:embed="rId3">
            <a:alphaModFix/>
          </a:blip>
          <a:stretch>
            <a:fillRect/>
          </a:stretch>
        </p:blipFill>
        <p:spPr>
          <a:xfrm>
            <a:off x="2945300" y="2946978"/>
            <a:ext cx="3065375" cy="1345475"/>
          </a:xfrm>
          <a:prstGeom prst="rect">
            <a:avLst/>
          </a:prstGeom>
          <a:noFill/>
          <a:ln>
            <a:noFill/>
          </a:ln>
        </p:spPr>
      </p:pic>
      <p:sp>
        <p:nvSpPr>
          <p:cNvPr id="140" name="Google Shape;140;g3aef577f991_1_4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aef577f991_1_49"/>
          <p:cNvSpPr txBox="1"/>
          <p:nvPr>
            <p:ph type="title"/>
          </p:nvPr>
        </p:nvSpPr>
        <p:spPr>
          <a:xfrm>
            <a:off x="457200" y="205200"/>
            <a:ext cx="8229300" cy="85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sz="3200"/>
              <a:t>Hessian Matrix</a:t>
            </a:r>
            <a:endParaRPr b="1" sz="3200"/>
          </a:p>
        </p:txBody>
      </p:sp>
      <p:sp>
        <p:nvSpPr>
          <p:cNvPr id="146" name="Google Shape;146;g3aef577f991_1_49"/>
          <p:cNvSpPr txBox="1"/>
          <p:nvPr>
            <p:ph idx="1" type="subTitle"/>
          </p:nvPr>
        </p:nvSpPr>
        <p:spPr>
          <a:xfrm>
            <a:off x="457200" y="1081500"/>
            <a:ext cx="8229300" cy="29805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a:solidFill>
                  <a:schemeClr val="dk1"/>
                </a:solidFill>
              </a:rPr>
              <a:t>A</a:t>
            </a:r>
            <a:r>
              <a:rPr lang="en">
                <a:solidFill>
                  <a:schemeClr val="dk1"/>
                </a:solidFill>
              </a:rPr>
              <a:t>t a critical point where the objective </a:t>
            </a:r>
            <a:r>
              <a:rPr lang="en">
                <a:solidFill>
                  <a:schemeClr val="dk1"/>
                </a:solidFill>
              </a:rPr>
              <a:t>function</a:t>
            </a:r>
            <a:r>
              <a:rPr lang="en">
                <a:solidFill>
                  <a:schemeClr val="dk1"/>
                </a:solidFill>
              </a:rPr>
              <a:t> gradient is zero:</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If H is positive definite, the point is a local minimum.</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If H is negative definite, the point is a local maximum.</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If H is indefinite, the point is a saddle point.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If H has a determinant of zero, or if any of its eigenvalues are zero, the point is called a degenerate critical point, and the second derivative test is inconclusive.</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47" name="Google Shape;147;g3aef577f991_1_4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af58a59889_0_0"/>
          <p:cNvSpPr txBox="1"/>
          <p:nvPr/>
        </p:nvSpPr>
        <p:spPr>
          <a:xfrm>
            <a:off x="440100" y="354725"/>
            <a:ext cx="8244000" cy="16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200"/>
              <a:t>KEY OPTIMIZATION CHALLENGES</a:t>
            </a:r>
            <a:endParaRPr sz="4200"/>
          </a:p>
        </p:txBody>
      </p:sp>
      <p:sp>
        <p:nvSpPr>
          <p:cNvPr id="153" name="Google Shape;153;g3af58a59889_0_0"/>
          <p:cNvSpPr txBox="1"/>
          <p:nvPr/>
        </p:nvSpPr>
        <p:spPr>
          <a:xfrm>
            <a:off x="440100" y="2246513"/>
            <a:ext cx="2785200" cy="426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1. </a:t>
            </a:r>
            <a:r>
              <a:rPr lang="en" sz="2000"/>
              <a:t>Local Minima</a:t>
            </a:r>
            <a:endParaRPr sz="2000"/>
          </a:p>
        </p:txBody>
      </p:sp>
      <p:sp>
        <p:nvSpPr>
          <p:cNvPr id="154" name="Google Shape;154;g3af58a59889_0_0"/>
          <p:cNvSpPr txBox="1"/>
          <p:nvPr/>
        </p:nvSpPr>
        <p:spPr>
          <a:xfrm>
            <a:off x="440100" y="2673413"/>
            <a:ext cx="2785200" cy="426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2. Saddle Points</a:t>
            </a:r>
            <a:endParaRPr sz="2000"/>
          </a:p>
        </p:txBody>
      </p:sp>
      <p:sp>
        <p:nvSpPr>
          <p:cNvPr id="155" name="Google Shape;155;g3af58a59889_0_0"/>
          <p:cNvSpPr txBox="1"/>
          <p:nvPr/>
        </p:nvSpPr>
        <p:spPr>
          <a:xfrm>
            <a:off x="440100" y="3100313"/>
            <a:ext cx="2785200" cy="426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3. Vanishing Gradient</a:t>
            </a:r>
            <a:endParaRPr sz="2000"/>
          </a:p>
        </p:txBody>
      </p:sp>
      <p:sp>
        <p:nvSpPr>
          <p:cNvPr id="156" name="Google Shape;156;g3af58a59889_0_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af58a59889_0_32"/>
          <p:cNvSpPr txBox="1"/>
          <p:nvPr/>
        </p:nvSpPr>
        <p:spPr>
          <a:xfrm>
            <a:off x="375725" y="213100"/>
            <a:ext cx="83091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t>KEY OPTIMIZATION CHALLENGES</a:t>
            </a:r>
            <a:endParaRPr b="1" sz="3200"/>
          </a:p>
        </p:txBody>
      </p:sp>
      <p:sp>
        <p:nvSpPr>
          <p:cNvPr id="162" name="Google Shape;162;g3af58a59889_0_32"/>
          <p:cNvSpPr txBox="1"/>
          <p:nvPr/>
        </p:nvSpPr>
        <p:spPr>
          <a:xfrm>
            <a:off x="440100" y="1011650"/>
            <a:ext cx="27852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t>1. Local Minima</a:t>
            </a:r>
            <a:endParaRPr b="1" i="1" sz="2000"/>
          </a:p>
        </p:txBody>
      </p:sp>
      <p:pic>
        <p:nvPicPr>
          <p:cNvPr id="163" name="Google Shape;163;g3af58a59889_0_32"/>
          <p:cNvPicPr preferRelativeResize="0"/>
          <p:nvPr/>
        </p:nvPicPr>
        <p:blipFill>
          <a:blip r:embed="rId3">
            <a:alphaModFix/>
          </a:blip>
          <a:stretch>
            <a:fillRect/>
          </a:stretch>
        </p:blipFill>
        <p:spPr>
          <a:xfrm>
            <a:off x="4901700" y="1011650"/>
            <a:ext cx="4057076" cy="4057076"/>
          </a:xfrm>
          <a:prstGeom prst="rect">
            <a:avLst/>
          </a:prstGeom>
          <a:noFill/>
          <a:ln>
            <a:noFill/>
          </a:ln>
        </p:spPr>
      </p:pic>
      <p:sp>
        <p:nvSpPr>
          <p:cNvPr id="164" name="Google Shape;164;g3af58a59889_0_32"/>
          <p:cNvSpPr txBox="1"/>
          <p:nvPr/>
        </p:nvSpPr>
        <p:spPr>
          <a:xfrm>
            <a:off x="440100" y="1438550"/>
            <a:ext cx="4171200" cy="12930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Problem</a:t>
            </a:r>
            <a:r>
              <a:rPr lang="en" sz="1800"/>
              <a:t>: </a:t>
            </a:r>
            <a:r>
              <a:rPr lang="en" sz="1800">
                <a:solidFill>
                  <a:schemeClr val="dk1"/>
                </a:solidFill>
              </a:rPr>
              <a:t>The optimizer may get trapped in a point where the loss is lower than its surroundings but still </a:t>
            </a:r>
            <a:r>
              <a:rPr i="1" lang="en" sz="1800">
                <a:solidFill>
                  <a:schemeClr val="dk1"/>
                </a:solidFill>
              </a:rPr>
              <a:t>not</a:t>
            </a:r>
            <a:r>
              <a:rPr lang="en" sz="1800">
                <a:solidFill>
                  <a:schemeClr val="dk1"/>
                </a:solidFill>
              </a:rPr>
              <a:t> the global minimum.</a:t>
            </a:r>
            <a:endParaRPr sz="2500"/>
          </a:p>
        </p:txBody>
      </p:sp>
      <p:sp>
        <p:nvSpPr>
          <p:cNvPr id="165" name="Google Shape;165;g3af58a59889_0_32"/>
          <p:cNvSpPr txBox="1"/>
          <p:nvPr/>
        </p:nvSpPr>
        <p:spPr>
          <a:xfrm>
            <a:off x="440100" y="2731550"/>
            <a:ext cx="4171200" cy="15699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Impact</a:t>
            </a:r>
            <a:r>
              <a:rPr lang="en" sz="1800"/>
              <a:t>: </a:t>
            </a:r>
            <a:r>
              <a:rPr lang="en" sz="1800">
                <a:solidFill>
                  <a:schemeClr val="dk1"/>
                </a:solidFill>
              </a:rPr>
              <a:t>The gradient becomes very small (</a:t>
            </a:r>
            <a:r>
              <a:rPr b="1" lang="en" sz="1800">
                <a:solidFill>
                  <a:schemeClr val="dk1"/>
                </a:solidFill>
              </a:rPr>
              <a:t>∇L ≈ 0</a:t>
            </a:r>
            <a:r>
              <a:rPr lang="en" sz="1800">
                <a:solidFill>
                  <a:schemeClr val="dk1"/>
                </a:solidFill>
              </a:rPr>
              <a:t>) even though the algorithm has not found the best possible solution. </a:t>
            </a:r>
            <a:r>
              <a:rPr lang="en" sz="1800">
                <a:solidFill>
                  <a:schemeClr val="dk1"/>
                </a:solidFill>
              </a:rPr>
              <a:t>Leads to </a:t>
            </a:r>
            <a:r>
              <a:rPr b="1" lang="en" sz="1800">
                <a:solidFill>
                  <a:schemeClr val="dk1"/>
                </a:solidFill>
              </a:rPr>
              <a:t>premature convergence</a:t>
            </a:r>
            <a:r>
              <a:rPr lang="en" sz="1800">
                <a:solidFill>
                  <a:schemeClr val="dk1"/>
                </a:solidFill>
              </a:rPr>
              <a:t>.</a:t>
            </a:r>
            <a:endParaRPr sz="3200"/>
          </a:p>
        </p:txBody>
      </p:sp>
      <p:sp>
        <p:nvSpPr>
          <p:cNvPr id="166" name="Google Shape;166;g3af58a59889_0_32"/>
          <p:cNvSpPr txBox="1"/>
          <p:nvPr/>
        </p:nvSpPr>
        <p:spPr>
          <a:xfrm>
            <a:off x="4901700" y="1011650"/>
            <a:ext cx="1266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rPr>
              <a:t>f(x) = x⁴ − 3x² + x</a:t>
            </a:r>
            <a:r>
              <a:rPr lang="en" sz="1100">
                <a:solidFill>
                  <a:schemeClr val="dk1"/>
                </a:solidFill>
              </a:rPr>
              <a:t> </a:t>
            </a:r>
            <a:endParaRPr sz="1800"/>
          </a:p>
        </p:txBody>
      </p:sp>
      <p:sp>
        <p:nvSpPr>
          <p:cNvPr id="167" name="Google Shape;167;g3af58a59889_0_3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g3af58a59889_0_42"/>
          <p:cNvPicPr preferRelativeResize="0"/>
          <p:nvPr/>
        </p:nvPicPr>
        <p:blipFill>
          <a:blip r:embed="rId3">
            <a:alphaModFix/>
          </a:blip>
          <a:stretch>
            <a:fillRect/>
          </a:stretch>
        </p:blipFill>
        <p:spPr>
          <a:xfrm>
            <a:off x="4901700" y="1011650"/>
            <a:ext cx="4057074" cy="4057074"/>
          </a:xfrm>
          <a:prstGeom prst="rect">
            <a:avLst/>
          </a:prstGeom>
          <a:noFill/>
          <a:ln>
            <a:noFill/>
          </a:ln>
        </p:spPr>
      </p:pic>
      <p:sp>
        <p:nvSpPr>
          <p:cNvPr id="173" name="Google Shape;173;g3af58a59889_0_42"/>
          <p:cNvSpPr txBox="1"/>
          <p:nvPr/>
        </p:nvSpPr>
        <p:spPr>
          <a:xfrm>
            <a:off x="440100" y="354725"/>
            <a:ext cx="79743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t>KEY OPTIMIZATION CHALLENGES</a:t>
            </a:r>
            <a:endParaRPr b="1" sz="3200"/>
          </a:p>
        </p:txBody>
      </p:sp>
      <p:sp>
        <p:nvSpPr>
          <p:cNvPr id="174" name="Google Shape;174;g3af58a59889_0_42"/>
          <p:cNvSpPr txBox="1"/>
          <p:nvPr/>
        </p:nvSpPr>
        <p:spPr>
          <a:xfrm>
            <a:off x="440100" y="1011650"/>
            <a:ext cx="27852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sz="2000">
                <a:solidFill>
                  <a:schemeClr val="dk1"/>
                </a:solidFill>
              </a:rPr>
              <a:t>2. Saddle Points</a:t>
            </a:r>
            <a:endParaRPr b="1" i="1" sz="2000">
              <a:solidFill>
                <a:schemeClr val="dk1"/>
              </a:solidFill>
            </a:endParaRPr>
          </a:p>
          <a:p>
            <a:pPr indent="0" lvl="0" marL="0" rtl="0" algn="l">
              <a:spcBef>
                <a:spcPts val="0"/>
              </a:spcBef>
              <a:spcAft>
                <a:spcPts val="0"/>
              </a:spcAft>
              <a:buNone/>
            </a:pPr>
            <a:r>
              <a:t/>
            </a:r>
            <a:endParaRPr b="1" i="1" sz="2000"/>
          </a:p>
        </p:txBody>
      </p:sp>
      <p:sp>
        <p:nvSpPr>
          <p:cNvPr id="175" name="Google Shape;175;g3af58a59889_0_42"/>
          <p:cNvSpPr txBox="1"/>
          <p:nvPr/>
        </p:nvSpPr>
        <p:spPr>
          <a:xfrm>
            <a:off x="440100" y="1438550"/>
            <a:ext cx="4171200" cy="18471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Problem</a:t>
            </a:r>
            <a:r>
              <a:rPr lang="en" sz="1800"/>
              <a:t>: </a:t>
            </a:r>
            <a:r>
              <a:rPr lang="en" sz="1800">
                <a:solidFill>
                  <a:schemeClr val="dk1"/>
                </a:solidFill>
              </a:rPr>
              <a:t>A saddle point has gradient </a:t>
            </a:r>
            <a:r>
              <a:rPr b="1" lang="en" sz="1800">
                <a:solidFill>
                  <a:schemeClr val="dk1"/>
                </a:solidFill>
              </a:rPr>
              <a:t>∇L = 0</a:t>
            </a:r>
            <a:r>
              <a:rPr lang="en" sz="1800">
                <a:solidFill>
                  <a:schemeClr val="dk1"/>
                </a:solidFill>
              </a:rPr>
              <a:t>, but it is neither a minimum nor a maximum. The surface curves upward in one direction and downward in another.</a:t>
            </a:r>
            <a:endParaRPr sz="2500">
              <a:solidFill>
                <a:schemeClr val="dk1"/>
              </a:solidFill>
            </a:endParaRPr>
          </a:p>
        </p:txBody>
      </p:sp>
      <p:sp>
        <p:nvSpPr>
          <p:cNvPr id="176" name="Google Shape;176;g3af58a59889_0_42"/>
          <p:cNvSpPr txBox="1"/>
          <p:nvPr/>
        </p:nvSpPr>
        <p:spPr>
          <a:xfrm>
            <a:off x="440100" y="3285650"/>
            <a:ext cx="4171200" cy="12930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Impact</a:t>
            </a:r>
            <a:r>
              <a:rPr lang="en" sz="1800"/>
              <a:t>: </a:t>
            </a:r>
            <a:r>
              <a:rPr lang="en" sz="1800">
                <a:solidFill>
                  <a:schemeClr val="dk1"/>
                </a:solidFill>
              </a:rPr>
              <a:t>Gradients near saddle points are extremely small → causes </a:t>
            </a:r>
            <a:r>
              <a:rPr b="1" lang="en" sz="1800">
                <a:solidFill>
                  <a:schemeClr val="dk1"/>
                </a:solidFill>
              </a:rPr>
              <a:t>very slow progress</a:t>
            </a:r>
            <a:r>
              <a:rPr lang="en" sz="1800">
                <a:solidFill>
                  <a:schemeClr val="dk1"/>
                </a:solidFill>
              </a:rPr>
              <a:t> ("plateau problem").</a:t>
            </a:r>
            <a:endParaRPr sz="3200"/>
          </a:p>
        </p:txBody>
      </p:sp>
      <p:sp>
        <p:nvSpPr>
          <p:cNvPr id="177" name="Google Shape;177;g3af58a59889_0_42"/>
          <p:cNvSpPr txBox="1"/>
          <p:nvPr/>
        </p:nvSpPr>
        <p:spPr>
          <a:xfrm>
            <a:off x="7441450" y="1011650"/>
            <a:ext cx="1313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t>f(x) = x³ + 2x⁵</a:t>
            </a:r>
            <a:endParaRPr i="1" sz="1100"/>
          </a:p>
        </p:txBody>
      </p:sp>
      <p:sp>
        <p:nvSpPr>
          <p:cNvPr id="178" name="Google Shape;178;g3af58a59889_0_4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af58a59889_0_57"/>
          <p:cNvSpPr txBox="1"/>
          <p:nvPr/>
        </p:nvSpPr>
        <p:spPr>
          <a:xfrm>
            <a:off x="440100" y="354725"/>
            <a:ext cx="54327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t>KEY OPTIMIZATION CHALLENGES</a:t>
            </a:r>
            <a:endParaRPr b="1" sz="2400"/>
          </a:p>
        </p:txBody>
      </p:sp>
      <p:sp>
        <p:nvSpPr>
          <p:cNvPr id="184" name="Google Shape;184;g3af58a59889_0_57"/>
          <p:cNvSpPr txBox="1"/>
          <p:nvPr/>
        </p:nvSpPr>
        <p:spPr>
          <a:xfrm>
            <a:off x="440100" y="1011650"/>
            <a:ext cx="27852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dk1"/>
                </a:solidFill>
              </a:rPr>
              <a:t>3. Vanishing Gradient</a:t>
            </a:r>
            <a:endParaRPr b="1" i="1" sz="2000">
              <a:solidFill>
                <a:schemeClr val="dk1"/>
              </a:solidFill>
            </a:endParaRPr>
          </a:p>
          <a:p>
            <a:pPr indent="0" lvl="0" marL="0" rtl="0" algn="l">
              <a:spcBef>
                <a:spcPts val="0"/>
              </a:spcBef>
              <a:spcAft>
                <a:spcPts val="0"/>
              </a:spcAft>
              <a:buNone/>
            </a:pPr>
            <a:r>
              <a:t/>
            </a:r>
            <a:endParaRPr b="1" i="1" sz="2000"/>
          </a:p>
        </p:txBody>
      </p:sp>
      <p:pic>
        <p:nvPicPr>
          <p:cNvPr id="185" name="Google Shape;185;g3af58a59889_0_57"/>
          <p:cNvPicPr preferRelativeResize="0"/>
          <p:nvPr/>
        </p:nvPicPr>
        <p:blipFill>
          <a:blip r:embed="rId3">
            <a:alphaModFix/>
          </a:blip>
          <a:stretch>
            <a:fillRect/>
          </a:stretch>
        </p:blipFill>
        <p:spPr>
          <a:xfrm>
            <a:off x="4901700" y="1011650"/>
            <a:ext cx="4057076" cy="4057076"/>
          </a:xfrm>
          <a:prstGeom prst="rect">
            <a:avLst/>
          </a:prstGeom>
          <a:noFill/>
          <a:ln>
            <a:noFill/>
          </a:ln>
        </p:spPr>
      </p:pic>
      <p:sp>
        <p:nvSpPr>
          <p:cNvPr id="186" name="Google Shape;186;g3af58a59889_0_57"/>
          <p:cNvSpPr txBox="1"/>
          <p:nvPr/>
        </p:nvSpPr>
        <p:spPr>
          <a:xfrm>
            <a:off x="440100" y="1438550"/>
            <a:ext cx="4171200" cy="18471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Problem</a:t>
            </a:r>
            <a:r>
              <a:rPr lang="en" sz="1800"/>
              <a:t>: </a:t>
            </a:r>
            <a:r>
              <a:rPr lang="en" sz="1800">
                <a:solidFill>
                  <a:schemeClr val="dk1"/>
                </a:solidFill>
              </a:rPr>
              <a:t>In deep networks, gradients gradually shrink when backpropagated through many layers. Multiplying many small derivatives leads to values approaching zero.</a:t>
            </a:r>
            <a:endParaRPr sz="2500">
              <a:solidFill>
                <a:schemeClr val="dk1"/>
              </a:solidFill>
            </a:endParaRPr>
          </a:p>
        </p:txBody>
      </p:sp>
      <p:sp>
        <p:nvSpPr>
          <p:cNvPr id="187" name="Google Shape;187;g3af58a59889_0_57"/>
          <p:cNvSpPr txBox="1"/>
          <p:nvPr/>
        </p:nvSpPr>
        <p:spPr>
          <a:xfrm>
            <a:off x="440100" y="3285650"/>
            <a:ext cx="4171200" cy="1293000"/>
          </a:xfrm>
          <a:prstGeom prst="rect">
            <a:avLst/>
          </a:prstGeom>
          <a:solidFill>
            <a:schemeClr val="lt1"/>
          </a:solid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i="1" lang="en" sz="1800"/>
              <a:t>Impact</a:t>
            </a:r>
            <a:r>
              <a:rPr lang="en" sz="1800"/>
              <a:t>: </a:t>
            </a:r>
            <a:r>
              <a:rPr lang="en" sz="1800">
                <a:solidFill>
                  <a:schemeClr val="dk1"/>
                </a:solidFill>
              </a:rPr>
              <a:t>Early layers learn extremely slowly → </a:t>
            </a:r>
            <a:r>
              <a:rPr b="1" lang="en" sz="1800">
                <a:solidFill>
                  <a:schemeClr val="dk1"/>
                </a:solidFill>
              </a:rPr>
              <a:t>training becomes unstable or ineffective</a:t>
            </a:r>
            <a:r>
              <a:rPr lang="en" sz="1800">
                <a:solidFill>
                  <a:schemeClr val="dk1"/>
                </a:solidFill>
              </a:rPr>
              <a:t>.</a:t>
            </a:r>
            <a:endParaRPr sz="3900"/>
          </a:p>
        </p:txBody>
      </p:sp>
      <p:sp>
        <p:nvSpPr>
          <p:cNvPr id="188" name="Google Shape;188;g3af58a59889_0_57"/>
          <p:cNvSpPr txBox="1"/>
          <p:nvPr/>
        </p:nvSpPr>
        <p:spPr>
          <a:xfrm>
            <a:off x="4901700" y="2601325"/>
            <a:ext cx="1281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rPr>
              <a:t>f(x) = 1 / (1 + e⁻ˣ)</a:t>
            </a:r>
            <a:endParaRPr sz="1800"/>
          </a:p>
        </p:txBody>
      </p:sp>
      <p:sp>
        <p:nvSpPr>
          <p:cNvPr id="189" name="Google Shape;189;g3af58a59889_0_5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4c1b698f3a_3_0"/>
          <p:cNvSpPr txBox="1"/>
          <p:nvPr>
            <p:ph idx="4294967295" type="title"/>
          </p:nvPr>
        </p:nvSpPr>
        <p:spPr>
          <a:xfrm>
            <a:off x="228600" y="2635560"/>
            <a:ext cx="7708800" cy="191490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lang="en" sz="3600">
                <a:solidFill>
                  <a:srgbClr val="434343"/>
                </a:solidFill>
                <a:latin typeface="Exo 2"/>
                <a:ea typeface="Exo 2"/>
                <a:cs typeface="Exo 2"/>
                <a:sym typeface="Exo 2"/>
              </a:rPr>
              <a:t>SPARSE FEATURES</a:t>
            </a:r>
            <a:endParaRPr b="0" i="0" sz="3600" u="none" cap="none" strike="noStrike">
              <a:latin typeface="Arial"/>
              <a:ea typeface="Arial"/>
              <a:cs typeface="Arial"/>
              <a:sym typeface="Arial"/>
            </a:endParaRPr>
          </a:p>
        </p:txBody>
      </p:sp>
      <p:sp>
        <p:nvSpPr>
          <p:cNvPr id="195" name="Google Shape;195;g24c1b698f3a_3_0"/>
          <p:cNvSpPr txBox="1"/>
          <p:nvPr>
            <p:ph idx="4294967295" type="subTitle"/>
          </p:nvPr>
        </p:nvSpPr>
        <p:spPr>
          <a:xfrm>
            <a:off x="3718440" y="4030560"/>
            <a:ext cx="4218600" cy="530400"/>
          </a:xfrm>
          <a:prstGeom prst="rect">
            <a:avLst/>
          </a:prstGeom>
          <a:noFill/>
          <a:ln>
            <a:noFill/>
          </a:ln>
        </p:spPr>
        <p:txBody>
          <a:bodyPr anchorCtr="0" anchor="t" bIns="91425" lIns="0" spcFirstLastPara="1" rIns="0" wrap="square" tIns="91425">
            <a:noAutofit/>
          </a:bodyPr>
          <a:lstStyle/>
          <a:p>
            <a:pPr indent="0" lvl="0" marL="0" marR="0" rtl="0" algn="r">
              <a:lnSpc>
                <a:spcPct val="100000"/>
              </a:lnSpc>
              <a:spcBef>
                <a:spcPts val="0"/>
              </a:spcBef>
              <a:spcAft>
                <a:spcPts val="0"/>
              </a:spcAft>
              <a:buClr>
                <a:srgbClr val="434343"/>
              </a:buClr>
              <a:buSzPts val="1400"/>
              <a:buFont typeface="Roboto Condensed Light"/>
              <a:buNone/>
            </a:pPr>
            <a:r>
              <a:t/>
            </a:r>
            <a:endParaRPr b="0" i="0" sz="1400" u="none" cap="none" strike="noStrike">
              <a:solidFill>
                <a:srgbClr val="000000"/>
              </a:solidFill>
              <a:latin typeface="Arial"/>
              <a:ea typeface="Arial"/>
              <a:cs typeface="Arial"/>
              <a:sym typeface="Arial"/>
            </a:endParaRPr>
          </a:p>
        </p:txBody>
      </p:sp>
      <p:sp>
        <p:nvSpPr>
          <p:cNvPr id="196" name="Google Shape;196;g24c1b698f3a_3_0"/>
          <p:cNvSpPr txBox="1"/>
          <p:nvPr>
            <p:ph idx="4294967295" type="title"/>
          </p:nvPr>
        </p:nvSpPr>
        <p:spPr>
          <a:xfrm>
            <a:off x="4964400" y="2323800"/>
            <a:ext cx="2973000" cy="74820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9600"/>
              <a:buFont typeface="Exo 2"/>
              <a:buNone/>
            </a:pPr>
            <a:r>
              <a:rPr b="1" i="0" lang="en" sz="9600" u="none" cap="none" strike="noStrike">
                <a:solidFill>
                  <a:srgbClr val="434343"/>
                </a:solidFill>
                <a:latin typeface="Exo 2"/>
                <a:ea typeface="Exo 2"/>
                <a:cs typeface="Exo 2"/>
                <a:sym typeface="Exo 2"/>
              </a:rPr>
              <a:t>0</a:t>
            </a:r>
            <a:r>
              <a:rPr b="1" lang="en" sz="9600">
                <a:solidFill>
                  <a:srgbClr val="434343"/>
                </a:solidFill>
                <a:latin typeface="Exo 2"/>
                <a:ea typeface="Exo 2"/>
                <a:cs typeface="Exo 2"/>
                <a:sym typeface="Exo 2"/>
              </a:rPr>
              <a:t>2</a:t>
            </a:r>
            <a:endParaRPr b="0" i="0" sz="9600" u="none" cap="none" strike="noStrike">
              <a:latin typeface="Arial"/>
              <a:ea typeface="Arial"/>
              <a:cs typeface="Arial"/>
              <a:sym typeface="Arial"/>
            </a:endParaRPr>
          </a:p>
        </p:txBody>
      </p:sp>
      <p:cxnSp>
        <p:nvCxnSpPr>
          <p:cNvPr id="197" name="Google Shape;197;g24c1b698f3a_3_0"/>
          <p:cNvCxnSpPr/>
          <p:nvPr/>
        </p:nvCxnSpPr>
        <p:spPr>
          <a:xfrm>
            <a:off x="7578000" y="4028400"/>
            <a:ext cx="1572600" cy="6600"/>
          </a:xfrm>
          <a:prstGeom prst="straightConnector1">
            <a:avLst/>
          </a:prstGeom>
          <a:noFill/>
          <a:ln cap="flat" cmpd="sng" w="9525">
            <a:solidFill>
              <a:srgbClr val="434343"/>
            </a:solidFill>
            <a:prstDash val="solid"/>
            <a:round/>
            <a:headEnd len="sm" w="sm" type="none"/>
            <a:tailEnd len="sm" w="sm" type="none"/>
          </a:ln>
        </p:spPr>
      </p:cxnSp>
      <p:grpSp>
        <p:nvGrpSpPr>
          <p:cNvPr id="198" name="Google Shape;198;g24c1b698f3a_3_0"/>
          <p:cNvGrpSpPr/>
          <p:nvPr/>
        </p:nvGrpSpPr>
        <p:grpSpPr>
          <a:xfrm>
            <a:off x="8089920" y="561240"/>
            <a:ext cx="416889" cy="415071"/>
            <a:chOff x="8089920" y="561240"/>
            <a:chExt cx="416889" cy="415071"/>
          </a:xfrm>
        </p:grpSpPr>
        <p:sp>
          <p:nvSpPr>
            <p:cNvPr id="199" name="Google Shape;199;g24c1b698f3a_3_0"/>
            <p:cNvSpPr/>
            <p:nvPr/>
          </p:nvSpPr>
          <p:spPr>
            <a:xfrm>
              <a:off x="8211960" y="694800"/>
              <a:ext cx="294849" cy="281511"/>
            </a:xfrm>
            <a:custGeom>
              <a:rect b="b" l="l" r="r" t="t"/>
              <a:pathLst>
                <a:path extrusionOk="0" h="13593" w="14225">
                  <a:moveTo>
                    <a:pt x="5439" y="1112"/>
                  </a:moveTo>
                  <a:cubicBezTo>
                    <a:pt x="6380" y="1112"/>
                    <a:pt x="7409" y="1547"/>
                    <a:pt x="8123" y="2262"/>
                  </a:cubicBezTo>
                  <a:cubicBezTo>
                    <a:pt x="9657" y="3726"/>
                    <a:pt x="9657" y="6184"/>
                    <a:pt x="8123" y="7648"/>
                  </a:cubicBezTo>
                  <a:cubicBezTo>
                    <a:pt x="7409" y="8363"/>
                    <a:pt x="6450" y="8799"/>
                    <a:pt x="5439" y="8799"/>
                  </a:cubicBezTo>
                  <a:cubicBezTo>
                    <a:pt x="4428" y="8799"/>
                    <a:pt x="3487" y="8363"/>
                    <a:pt x="2754" y="7648"/>
                  </a:cubicBezTo>
                  <a:cubicBezTo>
                    <a:pt x="1221" y="6184"/>
                    <a:pt x="1221" y="3726"/>
                    <a:pt x="2754" y="2262"/>
                  </a:cubicBezTo>
                  <a:cubicBezTo>
                    <a:pt x="3487" y="1547"/>
                    <a:pt x="4428" y="1112"/>
                    <a:pt x="5439" y="1112"/>
                  </a:cubicBezTo>
                  <a:close/>
                  <a:moveTo>
                    <a:pt x="5430" y="0"/>
                  </a:moveTo>
                  <a:cubicBezTo>
                    <a:pt x="4149" y="0"/>
                    <a:pt x="2859" y="493"/>
                    <a:pt x="1883" y="1478"/>
                  </a:cubicBezTo>
                  <a:cubicBezTo>
                    <a:pt x="0" y="3360"/>
                    <a:pt x="0" y="6550"/>
                    <a:pt x="1883" y="8520"/>
                  </a:cubicBezTo>
                  <a:cubicBezTo>
                    <a:pt x="2824" y="9461"/>
                    <a:pt x="4132" y="9967"/>
                    <a:pt x="5439" y="9967"/>
                  </a:cubicBezTo>
                  <a:cubicBezTo>
                    <a:pt x="6607" y="9967"/>
                    <a:pt x="7618" y="9601"/>
                    <a:pt x="8489" y="8886"/>
                  </a:cubicBezTo>
                  <a:lnTo>
                    <a:pt x="9797" y="10193"/>
                  </a:lnTo>
                  <a:lnTo>
                    <a:pt x="9221" y="10838"/>
                  </a:lnTo>
                  <a:lnTo>
                    <a:pt x="11540" y="13157"/>
                  </a:lnTo>
                  <a:cubicBezTo>
                    <a:pt x="11836" y="13453"/>
                    <a:pt x="12202" y="13592"/>
                    <a:pt x="12551" y="13592"/>
                  </a:cubicBezTo>
                  <a:cubicBezTo>
                    <a:pt x="12987" y="13592"/>
                    <a:pt x="13353" y="13453"/>
                    <a:pt x="13649" y="13157"/>
                  </a:cubicBezTo>
                  <a:cubicBezTo>
                    <a:pt x="14224" y="12581"/>
                    <a:pt x="14224" y="11570"/>
                    <a:pt x="13649" y="10978"/>
                  </a:cubicBezTo>
                  <a:lnTo>
                    <a:pt x="11331" y="8659"/>
                  </a:lnTo>
                  <a:lnTo>
                    <a:pt x="10668" y="9391"/>
                  </a:lnTo>
                  <a:lnTo>
                    <a:pt x="9361" y="8084"/>
                  </a:lnTo>
                  <a:cubicBezTo>
                    <a:pt x="10895" y="6114"/>
                    <a:pt x="10738" y="3221"/>
                    <a:pt x="8925" y="1478"/>
                  </a:cubicBezTo>
                  <a:cubicBezTo>
                    <a:pt x="7984" y="493"/>
                    <a:pt x="6711" y="0"/>
                    <a:pt x="543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24c1b698f3a_3_0"/>
            <p:cNvSpPr/>
            <p:nvPr/>
          </p:nvSpPr>
          <p:spPr>
            <a:xfrm>
              <a:off x="8089920" y="661320"/>
              <a:ext cx="267475" cy="67317"/>
            </a:xfrm>
            <a:custGeom>
              <a:rect b="b" l="l" r="r" t="t"/>
              <a:pathLst>
                <a:path extrusionOk="0" h="3487" w="12934">
                  <a:moveTo>
                    <a:pt x="1673" y="1151"/>
                  </a:moveTo>
                  <a:cubicBezTo>
                    <a:pt x="2039" y="1151"/>
                    <a:pt x="2266" y="1447"/>
                    <a:pt x="2266" y="1813"/>
                  </a:cubicBezTo>
                  <a:cubicBezTo>
                    <a:pt x="2336" y="2092"/>
                    <a:pt x="1970" y="2388"/>
                    <a:pt x="1673" y="2388"/>
                  </a:cubicBezTo>
                  <a:cubicBezTo>
                    <a:pt x="1307" y="2388"/>
                    <a:pt x="1098" y="2092"/>
                    <a:pt x="1098" y="1813"/>
                  </a:cubicBezTo>
                  <a:cubicBezTo>
                    <a:pt x="1028" y="1447"/>
                    <a:pt x="1395" y="1151"/>
                    <a:pt x="1673" y="1151"/>
                  </a:cubicBezTo>
                  <a:close/>
                  <a:moveTo>
                    <a:pt x="0" y="0"/>
                  </a:moveTo>
                  <a:lnTo>
                    <a:pt x="0" y="3487"/>
                  </a:lnTo>
                  <a:lnTo>
                    <a:pt x="5892" y="3487"/>
                  </a:lnTo>
                  <a:cubicBezTo>
                    <a:pt x="6101" y="3051"/>
                    <a:pt x="6467" y="2615"/>
                    <a:pt x="6833" y="2249"/>
                  </a:cubicBezTo>
                  <a:cubicBezTo>
                    <a:pt x="8001" y="1081"/>
                    <a:pt x="9517" y="436"/>
                    <a:pt x="11191" y="436"/>
                  </a:cubicBezTo>
                  <a:cubicBezTo>
                    <a:pt x="11766" y="436"/>
                    <a:pt x="12359" y="506"/>
                    <a:pt x="12934" y="645"/>
                  </a:cubicBezTo>
                  <a:lnTo>
                    <a:pt x="1293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24c1b698f3a_3_0"/>
            <p:cNvSpPr/>
            <p:nvPr/>
          </p:nvSpPr>
          <p:spPr>
            <a:xfrm>
              <a:off x="8265240" y="761040"/>
              <a:ext cx="92157" cy="67317"/>
            </a:xfrm>
            <a:custGeom>
              <a:rect b="b" l="l" r="r" t="t"/>
              <a:pathLst>
                <a:path extrusionOk="0" h="3487" w="4655">
                  <a:moveTo>
                    <a:pt x="872" y="1"/>
                  </a:moveTo>
                  <a:cubicBezTo>
                    <a:pt x="1" y="1029"/>
                    <a:pt x="1" y="2476"/>
                    <a:pt x="803" y="3487"/>
                  </a:cubicBezTo>
                  <a:lnTo>
                    <a:pt x="4655" y="3487"/>
                  </a:lnTo>
                  <a:lnTo>
                    <a:pt x="46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24c1b698f3a_3_0"/>
            <p:cNvSpPr/>
            <p:nvPr/>
          </p:nvSpPr>
          <p:spPr>
            <a:xfrm>
              <a:off x="8089920" y="761040"/>
              <a:ext cx="106194" cy="67317"/>
            </a:xfrm>
            <a:custGeom>
              <a:rect b="b" l="l" r="r" t="t"/>
              <a:pathLst>
                <a:path extrusionOk="0" h="3487" w="5317">
                  <a:moveTo>
                    <a:pt x="1673" y="1169"/>
                  </a:moveTo>
                  <a:cubicBezTo>
                    <a:pt x="2039" y="1169"/>
                    <a:pt x="2266" y="1465"/>
                    <a:pt x="2266" y="1744"/>
                  </a:cubicBezTo>
                  <a:cubicBezTo>
                    <a:pt x="2336" y="2110"/>
                    <a:pt x="1970" y="2406"/>
                    <a:pt x="1673" y="2406"/>
                  </a:cubicBezTo>
                  <a:cubicBezTo>
                    <a:pt x="1307" y="2406"/>
                    <a:pt x="1098" y="2110"/>
                    <a:pt x="1098" y="1744"/>
                  </a:cubicBezTo>
                  <a:cubicBezTo>
                    <a:pt x="1028" y="1465"/>
                    <a:pt x="1395" y="1169"/>
                    <a:pt x="1673" y="1169"/>
                  </a:cubicBezTo>
                  <a:close/>
                  <a:moveTo>
                    <a:pt x="0" y="1"/>
                  </a:moveTo>
                  <a:lnTo>
                    <a:pt x="0" y="3487"/>
                  </a:lnTo>
                  <a:lnTo>
                    <a:pt x="5317" y="3487"/>
                  </a:lnTo>
                  <a:cubicBezTo>
                    <a:pt x="5160" y="2981"/>
                    <a:pt x="5090" y="2406"/>
                    <a:pt x="5090" y="1831"/>
                  </a:cubicBezTo>
                  <a:cubicBezTo>
                    <a:pt x="5090" y="1238"/>
                    <a:pt x="5160" y="593"/>
                    <a:pt x="53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24c1b698f3a_3_0"/>
            <p:cNvSpPr/>
            <p:nvPr/>
          </p:nvSpPr>
          <p:spPr>
            <a:xfrm>
              <a:off x="8089920" y="561240"/>
              <a:ext cx="267475" cy="67317"/>
            </a:xfrm>
            <a:custGeom>
              <a:rect b="b" l="l" r="r" t="t"/>
              <a:pathLst>
                <a:path extrusionOk="0" h="3487" w="12934">
                  <a:moveTo>
                    <a:pt x="1673" y="1151"/>
                  </a:moveTo>
                  <a:cubicBezTo>
                    <a:pt x="2039" y="1151"/>
                    <a:pt x="2266" y="1447"/>
                    <a:pt x="2266" y="1813"/>
                  </a:cubicBezTo>
                  <a:cubicBezTo>
                    <a:pt x="2336" y="2110"/>
                    <a:pt x="1970" y="2388"/>
                    <a:pt x="1673" y="2388"/>
                  </a:cubicBezTo>
                  <a:cubicBezTo>
                    <a:pt x="1307" y="2388"/>
                    <a:pt x="1098" y="2110"/>
                    <a:pt x="1098" y="1813"/>
                  </a:cubicBezTo>
                  <a:cubicBezTo>
                    <a:pt x="1028" y="1447"/>
                    <a:pt x="1395" y="1151"/>
                    <a:pt x="1673" y="1151"/>
                  </a:cubicBezTo>
                  <a:close/>
                  <a:moveTo>
                    <a:pt x="0" y="0"/>
                  </a:moveTo>
                  <a:lnTo>
                    <a:pt x="0" y="3487"/>
                  </a:lnTo>
                  <a:lnTo>
                    <a:pt x="12934" y="3487"/>
                  </a:lnTo>
                  <a:lnTo>
                    <a:pt x="1293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4" name="Google Shape;204;g24c1b698f3a_3_0">
            <a:hlinkClick r:id="rId3"/>
          </p:cNvPr>
          <p:cNvSpPr/>
          <p:nvPr/>
        </p:nvSpPr>
        <p:spPr>
          <a:xfrm>
            <a:off x="7991640" y="463320"/>
            <a:ext cx="613800" cy="610800"/>
          </a:xfrm>
          <a:prstGeom prst="snip2DiagRect">
            <a:avLst>
              <a:gd fmla="val 0" name="adj1"/>
              <a:gd fmla="val 16667" name="adj2"/>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4c1b698f3a_3_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60d55e3b1_1_0"/>
          <p:cNvSpPr txBox="1"/>
          <p:nvPr/>
        </p:nvSpPr>
        <p:spPr>
          <a:xfrm>
            <a:off x="0" y="0"/>
            <a:ext cx="6987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What is Sparse Features?</a:t>
            </a:r>
            <a:endParaRPr b="1" sz="3200">
              <a:solidFill>
                <a:schemeClr val="dk1"/>
              </a:solidFill>
            </a:endParaRPr>
          </a:p>
        </p:txBody>
      </p:sp>
      <p:sp>
        <p:nvSpPr>
          <p:cNvPr id="211" name="Google Shape;211;g3a60d55e3b1_1_0"/>
          <p:cNvSpPr txBox="1"/>
          <p:nvPr/>
        </p:nvSpPr>
        <p:spPr>
          <a:xfrm>
            <a:off x="217050" y="824800"/>
            <a:ext cx="8223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Sparse features refer to data where most values are zero, and only a small fraction of dimensions are non-zero for each sample.</a:t>
            </a:r>
            <a:endParaRPr sz="1800"/>
          </a:p>
        </p:txBody>
      </p:sp>
      <p:sp>
        <p:nvSpPr>
          <p:cNvPr id="212" name="Google Shape;212;g3a60d55e3b1_1_0"/>
          <p:cNvSpPr txBox="1"/>
          <p:nvPr/>
        </p:nvSpPr>
        <p:spPr>
          <a:xfrm>
            <a:off x="314325" y="1649600"/>
            <a:ext cx="6664800" cy="8772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SzPts val="1800"/>
              <a:buChar char="●"/>
            </a:pPr>
            <a:r>
              <a:rPr lang="en" sz="1800"/>
              <a:t>NLP (Text Classification): Bag-of-Words.</a:t>
            </a:r>
            <a:endParaRPr sz="1800"/>
          </a:p>
          <a:p>
            <a:pPr indent="-342900" lvl="0" marL="457200" rtl="0" algn="l">
              <a:lnSpc>
                <a:spcPct val="150000"/>
              </a:lnSpc>
              <a:spcBef>
                <a:spcPts val="0"/>
              </a:spcBef>
              <a:spcAft>
                <a:spcPts val="0"/>
              </a:spcAft>
              <a:buSzPts val="1800"/>
              <a:buChar char="●"/>
            </a:pPr>
            <a:r>
              <a:rPr lang="en" sz="1800"/>
              <a:t>Recommendation Systems: User-item interaction matrix.</a:t>
            </a:r>
            <a:endParaRPr sz="1800"/>
          </a:p>
        </p:txBody>
      </p:sp>
      <p:pic>
        <p:nvPicPr>
          <p:cNvPr id="213" name="Google Shape;213;g3a60d55e3b1_1_0"/>
          <p:cNvPicPr preferRelativeResize="0"/>
          <p:nvPr/>
        </p:nvPicPr>
        <p:blipFill>
          <a:blip r:embed="rId3">
            <a:alphaModFix/>
          </a:blip>
          <a:stretch>
            <a:fillRect/>
          </a:stretch>
        </p:blipFill>
        <p:spPr>
          <a:xfrm>
            <a:off x="2211850" y="2612700"/>
            <a:ext cx="4520283" cy="2311900"/>
          </a:xfrm>
          <a:prstGeom prst="rect">
            <a:avLst/>
          </a:prstGeom>
          <a:noFill/>
          <a:ln>
            <a:noFill/>
          </a:ln>
        </p:spPr>
      </p:pic>
      <p:sp>
        <p:nvSpPr>
          <p:cNvPr id="214" name="Google Shape;214;g3a60d55e3b1_1_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60d55e3b1_1_7"/>
          <p:cNvSpPr txBox="1"/>
          <p:nvPr/>
        </p:nvSpPr>
        <p:spPr>
          <a:xfrm>
            <a:off x="0" y="0"/>
            <a:ext cx="909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Stochastic Gradient Descent (SGD) </a:t>
            </a:r>
            <a:endParaRPr b="1" sz="3200">
              <a:solidFill>
                <a:schemeClr val="dk1"/>
              </a:solidFill>
            </a:endParaRPr>
          </a:p>
        </p:txBody>
      </p:sp>
      <p:sp>
        <p:nvSpPr>
          <p:cNvPr id="220" name="Google Shape;220;g3a60d55e3b1_1_7"/>
          <p:cNvSpPr txBox="1"/>
          <p:nvPr/>
        </p:nvSpPr>
        <p:spPr>
          <a:xfrm>
            <a:off x="152175" y="1004350"/>
            <a:ext cx="421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Stochastic Gradient Descent </a:t>
            </a:r>
            <a:r>
              <a:rPr b="1" lang="en" sz="1800"/>
              <a:t>Update</a:t>
            </a:r>
            <a:endParaRPr b="1" sz="1800"/>
          </a:p>
        </p:txBody>
      </p:sp>
      <p:sp>
        <p:nvSpPr>
          <p:cNvPr id="221" name="Google Shape;221;g3a60d55e3b1_1_7"/>
          <p:cNvSpPr txBox="1"/>
          <p:nvPr/>
        </p:nvSpPr>
        <p:spPr>
          <a:xfrm>
            <a:off x="730450" y="1633350"/>
            <a:ext cx="8126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Select a random sample (or group of samples) to estimate the gradient</a:t>
            </a:r>
            <a:endParaRPr sz="1800">
              <a:solidFill>
                <a:schemeClr val="dk1"/>
              </a:solidFill>
            </a:endParaRPr>
          </a:p>
          <a:p>
            <a:pPr indent="0" lvl="0" marL="0" rtl="0" algn="l">
              <a:spcBef>
                <a:spcPts val="0"/>
              </a:spcBef>
              <a:spcAft>
                <a:spcPts val="0"/>
              </a:spcAft>
              <a:buNone/>
            </a:pPr>
            <a:r>
              <a:rPr lang="en" sz="1800">
                <a:solidFill>
                  <a:schemeClr val="dk1"/>
                </a:solidFill>
              </a:rPr>
              <a:t>and update w</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222" name="Google Shape;222;g3a60d55e3b1_1_7"/>
          <p:cNvSpPr txBox="1"/>
          <p:nvPr/>
        </p:nvSpPr>
        <p:spPr>
          <a:xfrm>
            <a:off x="791300" y="3643825"/>
            <a:ext cx="7466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where it ∼ Uniform(1, n) is the randomly selected sample index at step</a:t>
            </a:r>
            <a:endParaRPr sz="1800">
              <a:solidFill>
                <a:schemeClr val="dk1"/>
              </a:solidFill>
            </a:endParaRPr>
          </a:p>
          <a:p>
            <a:pPr indent="0" lvl="0" marL="0" rtl="0" algn="l">
              <a:spcBef>
                <a:spcPts val="0"/>
              </a:spcBef>
              <a:spcAft>
                <a:spcPts val="0"/>
              </a:spcAft>
              <a:buNone/>
            </a:pPr>
            <a:r>
              <a:rPr lang="en" sz="1800">
                <a:solidFill>
                  <a:schemeClr val="dk1"/>
                </a:solidFill>
              </a:rPr>
              <a:t>t and η is learning rate.</a:t>
            </a:r>
            <a:endParaRPr sz="1800"/>
          </a:p>
        </p:txBody>
      </p:sp>
      <p:pic>
        <p:nvPicPr>
          <p:cNvPr id="223" name="Google Shape;223;g3a60d55e3b1_1_7"/>
          <p:cNvPicPr preferRelativeResize="0"/>
          <p:nvPr/>
        </p:nvPicPr>
        <p:blipFill>
          <a:blip r:embed="rId3">
            <a:alphaModFix/>
          </a:blip>
          <a:stretch>
            <a:fillRect/>
          </a:stretch>
        </p:blipFill>
        <p:spPr>
          <a:xfrm>
            <a:off x="1949325" y="2288250"/>
            <a:ext cx="4876800" cy="1257300"/>
          </a:xfrm>
          <a:prstGeom prst="rect">
            <a:avLst/>
          </a:prstGeom>
          <a:noFill/>
          <a:ln>
            <a:noFill/>
          </a:ln>
        </p:spPr>
      </p:pic>
      <p:sp>
        <p:nvSpPr>
          <p:cNvPr id="224" name="Google Shape;224;g3a60d55e3b1_1_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60d55e3b1_2_5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30" name="Google Shape;230;g3a60d55e3b1_2_56"/>
          <p:cNvSpPr txBox="1"/>
          <p:nvPr/>
        </p:nvSpPr>
        <p:spPr>
          <a:xfrm>
            <a:off x="25" y="64875"/>
            <a:ext cx="9144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Challenges of SGD with Sparse Features</a:t>
            </a:r>
            <a:endParaRPr b="1" sz="3200">
              <a:solidFill>
                <a:schemeClr val="hlink"/>
              </a:solidFill>
            </a:endParaRPr>
          </a:p>
        </p:txBody>
      </p:sp>
      <p:sp>
        <p:nvSpPr>
          <p:cNvPr id="231" name="Google Shape;231;g3a60d55e3b1_2_56"/>
          <p:cNvSpPr txBox="1"/>
          <p:nvPr/>
        </p:nvSpPr>
        <p:spPr>
          <a:xfrm>
            <a:off x="150900" y="906950"/>
            <a:ext cx="3901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t>Unequal Update Frequency</a:t>
            </a:r>
            <a:endParaRPr b="1" sz="2000"/>
          </a:p>
        </p:txBody>
      </p:sp>
      <p:sp>
        <p:nvSpPr>
          <p:cNvPr id="232" name="Google Shape;232;g3a60d55e3b1_2_56"/>
          <p:cNvSpPr txBox="1"/>
          <p:nvPr/>
        </p:nvSpPr>
        <p:spPr>
          <a:xfrm>
            <a:off x="221925" y="1726850"/>
            <a:ext cx="59961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Different features are updated at vastly different rates:</a:t>
            </a:r>
            <a:endParaRPr sz="1800"/>
          </a:p>
          <a:p>
            <a:pPr indent="0" lvl="0" marL="0" rtl="0" algn="l">
              <a:spcBef>
                <a:spcPts val="0"/>
              </a:spcBef>
              <a:spcAft>
                <a:spcPts val="0"/>
              </a:spcAft>
              <a:buNone/>
            </a:pPr>
            <a:r>
              <a:t/>
            </a:r>
            <a:endParaRPr sz="1800"/>
          </a:p>
          <a:p>
            <a:pPr indent="-342900" lvl="0" marL="457200" rtl="0" algn="l">
              <a:lnSpc>
                <a:spcPct val="150000"/>
              </a:lnSpc>
              <a:spcBef>
                <a:spcPts val="0"/>
              </a:spcBef>
              <a:spcAft>
                <a:spcPts val="0"/>
              </a:spcAft>
              <a:buSzPts val="1800"/>
              <a:buChar char="●"/>
            </a:pPr>
            <a:r>
              <a:rPr lang="en" sz="1800"/>
              <a:t>Common features are updated frequently.</a:t>
            </a:r>
            <a:endParaRPr sz="1800"/>
          </a:p>
          <a:p>
            <a:pPr indent="-342900" lvl="0" marL="457200" rtl="0" algn="l">
              <a:lnSpc>
                <a:spcPct val="150000"/>
              </a:lnSpc>
              <a:spcBef>
                <a:spcPts val="0"/>
              </a:spcBef>
              <a:spcAft>
                <a:spcPts val="0"/>
              </a:spcAft>
              <a:buSzPts val="1800"/>
              <a:buChar char="●"/>
            </a:pPr>
            <a:r>
              <a:rPr lang="en" sz="1800"/>
              <a:t>Rare features are updated infrequently.</a:t>
            </a:r>
            <a:endParaRPr sz="1800"/>
          </a:p>
        </p:txBody>
      </p:sp>
      <p:sp>
        <p:nvSpPr>
          <p:cNvPr id="233" name="Google Shape;233;g3a60d55e3b1_2_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60d55e3b1_2_2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39" name="Google Shape;239;g3a60d55e3b1_2_21"/>
          <p:cNvSpPr txBox="1"/>
          <p:nvPr/>
        </p:nvSpPr>
        <p:spPr>
          <a:xfrm>
            <a:off x="25" y="64875"/>
            <a:ext cx="9144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Challenges of SGD with Sparse Features</a:t>
            </a:r>
            <a:endParaRPr b="1" sz="3200">
              <a:solidFill>
                <a:schemeClr val="hlink"/>
              </a:solidFill>
              <a:latin typeface="Exo 2"/>
              <a:ea typeface="Exo 2"/>
              <a:cs typeface="Exo 2"/>
              <a:sym typeface="Exo 2"/>
            </a:endParaRPr>
          </a:p>
        </p:txBody>
      </p:sp>
      <p:sp>
        <p:nvSpPr>
          <p:cNvPr id="240" name="Google Shape;240;g3a60d55e3b1_2_21"/>
          <p:cNvSpPr txBox="1"/>
          <p:nvPr/>
        </p:nvSpPr>
        <p:spPr>
          <a:xfrm>
            <a:off x="102800" y="82785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t>Sparse Gradients</a:t>
            </a:r>
            <a:endParaRPr b="1" sz="2100"/>
          </a:p>
        </p:txBody>
      </p:sp>
      <p:pic>
        <p:nvPicPr>
          <p:cNvPr id="241" name="Google Shape;241;g3a60d55e3b1_2_21"/>
          <p:cNvPicPr preferRelativeResize="0"/>
          <p:nvPr/>
        </p:nvPicPr>
        <p:blipFill rotWithShape="1">
          <a:blip r:embed="rId3">
            <a:alphaModFix/>
          </a:blip>
          <a:srcRect b="0" l="12242" r="0" t="0"/>
          <a:stretch/>
        </p:blipFill>
        <p:spPr>
          <a:xfrm>
            <a:off x="234925" y="3469175"/>
            <a:ext cx="1794075" cy="1317225"/>
          </a:xfrm>
          <a:prstGeom prst="rect">
            <a:avLst/>
          </a:prstGeom>
          <a:noFill/>
          <a:ln>
            <a:noFill/>
          </a:ln>
        </p:spPr>
      </p:pic>
      <p:sp>
        <p:nvSpPr>
          <p:cNvPr id="242" name="Google Shape;242;g3a60d55e3b1_2_21"/>
          <p:cNvSpPr txBox="1"/>
          <p:nvPr/>
        </p:nvSpPr>
        <p:spPr>
          <a:xfrm>
            <a:off x="4575025" y="3183300"/>
            <a:ext cx="4352700" cy="1391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a:t>Only </a:t>
            </a:r>
            <a:r>
              <a:rPr lang="en"/>
              <a:t>some </a:t>
            </a:r>
            <a:r>
              <a:rPr lang="en"/>
              <a:t>parameters updated per SGD step </a:t>
            </a:r>
            <a:endParaRPr/>
          </a:p>
          <a:p>
            <a:pPr indent="-317500" lvl="0" marL="457200" rtl="0" algn="l">
              <a:lnSpc>
                <a:spcPct val="115000"/>
              </a:lnSpc>
              <a:spcBef>
                <a:spcPts val="0"/>
              </a:spcBef>
              <a:spcAft>
                <a:spcPts val="0"/>
              </a:spcAft>
              <a:buSzPts val="1400"/>
              <a:buChar char="●"/>
            </a:pPr>
            <a:r>
              <a:rPr lang="en"/>
              <a:t>Most parameters remain unchanged for many iterations </a:t>
            </a:r>
            <a:endParaRPr/>
          </a:p>
          <a:p>
            <a:pPr indent="-317500" lvl="0" marL="457200" rtl="0" algn="l">
              <a:lnSpc>
                <a:spcPct val="115000"/>
              </a:lnSpc>
              <a:spcBef>
                <a:spcPts val="0"/>
              </a:spcBef>
              <a:spcAft>
                <a:spcPts val="0"/>
              </a:spcAft>
              <a:buSzPts val="1400"/>
              <a:buChar char="●"/>
            </a:pPr>
            <a:r>
              <a:rPr lang="en"/>
              <a:t>Update frequency is unpredictable and unequal</a:t>
            </a:r>
            <a:endParaRPr/>
          </a:p>
        </p:txBody>
      </p:sp>
      <p:sp>
        <p:nvSpPr>
          <p:cNvPr id="243" name="Google Shape;243;g3a60d55e3b1_2_21"/>
          <p:cNvSpPr txBox="1"/>
          <p:nvPr/>
        </p:nvSpPr>
        <p:spPr>
          <a:xfrm>
            <a:off x="210575" y="2000650"/>
            <a:ext cx="202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Simple linear model: </a:t>
            </a:r>
            <a:endParaRPr/>
          </a:p>
        </p:txBody>
      </p:sp>
      <p:pic>
        <p:nvPicPr>
          <p:cNvPr id="244" name="Google Shape;244;g3a60d55e3b1_2_21"/>
          <p:cNvPicPr preferRelativeResize="0"/>
          <p:nvPr/>
        </p:nvPicPr>
        <p:blipFill rotWithShape="1">
          <a:blip r:embed="rId4">
            <a:alphaModFix/>
          </a:blip>
          <a:srcRect b="0" l="12914" r="0" t="0"/>
          <a:stretch/>
        </p:blipFill>
        <p:spPr>
          <a:xfrm>
            <a:off x="294223" y="2325275"/>
            <a:ext cx="1400750" cy="738675"/>
          </a:xfrm>
          <a:prstGeom prst="rect">
            <a:avLst/>
          </a:prstGeom>
          <a:noFill/>
          <a:ln>
            <a:noFill/>
          </a:ln>
        </p:spPr>
      </p:pic>
      <p:sp>
        <p:nvSpPr>
          <p:cNvPr id="245" name="Google Shape;245;g3a60d55e3b1_2_21"/>
          <p:cNvSpPr txBox="1"/>
          <p:nvPr/>
        </p:nvSpPr>
        <p:spPr>
          <a:xfrm>
            <a:off x="157575" y="3046825"/>
            <a:ext cx="313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t>
            </a:r>
            <a:r>
              <a:rPr lang="en"/>
              <a:t>he gradient of the loss function </a:t>
            </a:r>
            <a:r>
              <a:rPr lang="en"/>
              <a:t>L </a:t>
            </a:r>
            <a:r>
              <a:rPr lang="en"/>
              <a:t>with respect to weight </a:t>
            </a:r>
            <a:r>
              <a:rPr lang="en"/>
              <a:t>Wi:</a:t>
            </a:r>
            <a:endParaRPr/>
          </a:p>
        </p:txBody>
      </p:sp>
      <p:pic>
        <p:nvPicPr>
          <p:cNvPr id="246" name="Google Shape;246;g3a60d55e3b1_2_21"/>
          <p:cNvPicPr preferRelativeResize="0"/>
          <p:nvPr/>
        </p:nvPicPr>
        <p:blipFill>
          <a:blip r:embed="rId5">
            <a:alphaModFix/>
          </a:blip>
          <a:stretch>
            <a:fillRect/>
          </a:stretch>
        </p:blipFill>
        <p:spPr>
          <a:xfrm>
            <a:off x="2759625" y="1216626"/>
            <a:ext cx="3041128" cy="784025"/>
          </a:xfrm>
          <a:prstGeom prst="rect">
            <a:avLst/>
          </a:prstGeom>
          <a:noFill/>
          <a:ln>
            <a:noFill/>
          </a:ln>
        </p:spPr>
      </p:pic>
      <p:sp>
        <p:nvSpPr>
          <p:cNvPr id="247" name="Google Shape;247;g3a60d55e3b1_2_21"/>
          <p:cNvSpPr/>
          <p:nvPr/>
        </p:nvSpPr>
        <p:spPr>
          <a:xfrm>
            <a:off x="3550550" y="3063950"/>
            <a:ext cx="771000" cy="4002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8" name="Google Shape;248;g3a60d55e3b1_2_21"/>
          <p:cNvPicPr preferRelativeResize="0"/>
          <p:nvPr/>
        </p:nvPicPr>
        <p:blipFill>
          <a:blip r:embed="rId6">
            <a:alphaModFix/>
          </a:blip>
          <a:stretch>
            <a:fillRect/>
          </a:stretch>
        </p:blipFill>
        <p:spPr>
          <a:xfrm>
            <a:off x="5027800" y="2040100"/>
            <a:ext cx="3447152" cy="1063300"/>
          </a:xfrm>
          <a:prstGeom prst="rect">
            <a:avLst/>
          </a:prstGeom>
          <a:noFill/>
          <a:ln>
            <a:noFill/>
          </a:ln>
        </p:spPr>
      </p:pic>
      <p:sp>
        <p:nvSpPr>
          <p:cNvPr id="249" name="Google Shape;249;g3a60d55e3b1_2_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a60d55e3b1_2_1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55" name="Google Shape;255;g3a60d55e3b1_2_12"/>
          <p:cNvSpPr txBox="1"/>
          <p:nvPr/>
        </p:nvSpPr>
        <p:spPr>
          <a:xfrm>
            <a:off x="25" y="64875"/>
            <a:ext cx="9144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3200">
                <a:solidFill>
                  <a:schemeClr val="dk1"/>
                </a:solidFill>
              </a:rPr>
              <a:t>Challenges of SGD with Sparse Features</a:t>
            </a:r>
            <a:endParaRPr b="1" sz="3200">
              <a:solidFill>
                <a:schemeClr val="hlink"/>
              </a:solidFill>
              <a:latin typeface="Exo 2"/>
              <a:ea typeface="Exo 2"/>
              <a:cs typeface="Exo 2"/>
              <a:sym typeface="Exo 2"/>
            </a:endParaRPr>
          </a:p>
        </p:txBody>
      </p:sp>
      <p:sp>
        <p:nvSpPr>
          <p:cNvPr id="256" name="Google Shape;256;g3a60d55e3b1_2_12"/>
          <p:cNvSpPr txBox="1"/>
          <p:nvPr/>
        </p:nvSpPr>
        <p:spPr>
          <a:xfrm>
            <a:off x="768225" y="250722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If η is SMALL (e</a:t>
            </a:r>
            <a:r>
              <a:rPr lang="en" sz="1800"/>
              <a:t>x: </a:t>
            </a:r>
            <a:r>
              <a:rPr lang="en" sz="1800"/>
              <a:t>0.001):</a:t>
            </a:r>
            <a:endParaRPr sz="1800"/>
          </a:p>
          <a:p>
            <a:pPr indent="-342900" lvl="0" marL="457200" rtl="0" algn="l">
              <a:spcBef>
                <a:spcPts val="0"/>
              </a:spcBef>
              <a:spcAft>
                <a:spcPts val="0"/>
              </a:spcAft>
              <a:buSzPts val="1800"/>
              <a:buChar char="●"/>
            </a:pPr>
            <a:r>
              <a:rPr lang="en" sz="1800">
                <a:solidFill>
                  <a:schemeClr val="dk1"/>
                </a:solidFill>
              </a:rPr>
              <a:t>Rare features learn very slowly.</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SzPts val="1800"/>
              <a:buChar char="●"/>
            </a:pPr>
            <a:r>
              <a:rPr lang="en" sz="1800">
                <a:solidFill>
                  <a:schemeClr val="dk1"/>
                </a:solidFill>
              </a:rPr>
              <a:t>Common</a:t>
            </a:r>
            <a:r>
              <a:rPr lang="en" sz="1800"/>
              <a:t> features converge smoothly.</a:t>
            </a:r>
            <a:endParaRPr sz="1800"/>
          </a:p>
        </p:txBody>
      </p:sp>
      <p:sp>
        <p:nvSpPr>
          <p:cNvPr id="257" name="Google Shape;257;g3a60d55e3b1_2_12"/>
          <p:cNvSpPr txBox="1"/>
          <p:nvPr/>
        </p:nvSpPr>
        <p:spPr>
          <a:xfrm>
            <a:off x="4900925" y="2490625"/>
            <a:ext cx="3154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If η is LARGE (ex: 0.1):</a:t>
            </a:r>
            <a:endParaRPr sz="1800"/>
          </a:p>
          <a:p>
            <a:pPr indent="-342900" lvl="0" marL="457200" rtl="0" algn="l">
              <a:spcBef>
                <a:spcPts val="0"/>
              </a:spcBef>
              <a:spcAft>
                <a:spcPts val="0"/>
              </a:spcAft>
              <a:buSzPts val="1800"/>
              <a:buChar char="●"/>
            </a:pPr>
            <a:r>
              <a:rPr lang="en" sz="1800"/>
              <a:t>Rare features have chance to learn.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Common features oscillate.</a:t>
            </a:r>
            <a:endParaRPr sz="1800"/>
          </a:p>
        </p:txBody>
      </p:sp>
      <p:sp>
        <p:nvSpPr>
          <p:cNvPr id="258" name="Google Shape;258;g3a60d55e3b1_2_12"/>
          <p:cNvSpPr txBox="1"/>
          <p:nvPr/>
        </p:nvSpPr>
        <p:spPr>
          <a:xfrm>
            <a:off x="112100" y="954425"/>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t>Learning Rate Dilemma</a:t>
            </a:r>
            <a:endParaRPr b="1" sz="1700"/>
          </a:p>
        </p:txBody>
      </p:sp>
      <p:pic>
        <p:nvPicPr>
          <p:cNvPr id="259" name="Google Shape;259;g3a60d55e3b1_2_12"/>
          <p:cNvPicPr preferRelativeResize="0"/>
          <p:nvPr/>
        </p:nvPicPr>
        <p:blipFill>
          <a:blip r:embed="rId3">
            <a:alphaModFix/>
          </a:blip>
          <a:stretch>
            <a:fillRect/>
          </a:stretch>
        </p:blipFill>
        <p:spPr>
          <a:xfrm>
            <a:off x="2194687" y="1400825"/>
            <a:ext cx="4227075" cy="1089800"/>
          </a:xfrm>
          <a:prstGeom prst="rect">
            <a:avLst/>
          </a:prstGeom>
          <a:noFill/>
          <a:ln>
            <a:noFill/>
          </a:ln>
        </p:spPr>
      </p:pic>
      <p:sp>
        <p:nvSpPr>
          <p:cNvPr id="260" name="Google Shape;260;g3a60d55e3b1_2_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6"/>
          <p:cNvSpPr txBox="1"/>
          <p:nvPr>
            <p:ph idx="4294967295" type="title"/>
          </p:nvPr>
        </p:nvSpPr>
        <p:spPr>
          <a:xfrm>
            <a:off x="228600" y="2635560"/>
            <a:ext cx="7708680" cy="191484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3600"/>
              <a:buFont typeface="Exo 2"/>
              <a:buNone/>
            </a:pPr>
            <a:r>
              <a:rPr b="1" lang="en" sz="3600">
                <a:solidFill>
                  <a:srgbClr val="434343"/>
                </a:solidFill>
                <a:latin typeface="Exo 2"/>
                <a:ea typeface="Exo 2"/>
                <a:cs typeface="Exo 2"/>
                <a:sym typeface="Exo 2"/>
              </a:rPr>
              <a:t>ADAGRAD</a:t>
            </a:r>
            <a:endParaRPr b="0" i="0" sz="3600" u="none" cap="none" strike="noStrike">
              <a:latin typeface="Arial"/>
              <a:ea typeface="Arial"/>
              <a:cs typeface="Arial"/>
              <a:sym typeface="Arial"/>
            </a:endParaRPr>
          </a:p>
        </p:txBody>
      </p:sp>
      <p:sp>
        <p:nvSpPr>
          <p:cNvPr id="266" name="Google Shape;266;p16"/>
          <p:cNvSpPr txBox="1"/>
          <p:nvPr>
            <p:ph idx="4294967295" type="subTitle"/>
          </p:nvPr>
        </p:nvSpPr>
        <p:spPr>
          <a:xfrm>
            <a:off x="3718440" y="4030560"/>
            <a:ext cx="4218480" cy="530280"/>
          </a:xfrm>
          <a:prstGeom prst="rect">
            <a:avLst/>
          </a:prstGeom>
          <a:noFill/>
          <a:ln>
            <a:noFill/>
          </a:ln>
        </p:spPr>
        <p:txBody>
          <a:bodyPr anchorCtr="0" anchor="t" bIns="91425" lIns="0" spcFirstLastPara="1" rIns="0" wrap="square" tIns="91425">
            <a:noAutofit/>
          </a:bodyPr>
          <a:lstStyle/>
          <a:p>
            <a:pPr indent="0" lvl="0" marL="0" marR="0" rtl="0" algn="r">
              <a:lnSpc>
                <a:spcPct val="100000"/>
              </a:lnSpc>
              <a:spcBef>
                <a:spcPts val="0"/>
              </a:spcBef>
              <a:spcAft>
                <a:spcPts val="0"/>
              </a:spcAft>
              <a:buClr>
                <a:srgbClr val="434343"/>
              </a:buClr>
              <a:buSzPts val="1400"/>
              <a:buFont typeface="Roboto Condensed Light"/>
              <a:buNone/>
            </a:pPr>
            <a:r>
              <a:t/>
            </a:r>
            <a:endParaRPr b="0" i="0" sz="1400" u="none" cap="none" strike="noStrike">
              <a:solidFill>
                <a:srgbClr val="434343"/>
              </a:solidFill>
              <a:latin typeface="Roboto Condensed Light"/>
              <a:ea typeface="Roboto Condensed Light"/>
              <a:cs typeface="Roboto Condensed Light"/>
              <a:sym typeface="Roboto Condensed Light"/>
            </a:endParaRPr>
          </a:p>
        </p:txBody>
      </p:sp>
      <p:sp>
        <p:nvSpPr>
          <p:cNvPr id="267" name="Google Shape;267;p16"/>
          <p:cNvSpPr txBox="1"/>
          <p:nvPr>
            <p:ph idx="4294967295" type="title"/>
          </p:nvPr>
        </p:nvSpPr>
        <p:spPr>
          <a:xfrm>
            <a:off x="4964400" y="2323800"/>
            <a:ext cx="2972880" cy="748080"/>
          </a:xfrm>
          <a:prstGeom prst="rect">
            <a:avLst/>
          </a:prstGeom>
          <a:noFill/>
          <a:ln>
            <a:noFill/>
          </a:ln>
        </p:spPr>
        <p:txBody>
          <a:bodyPr anchorCtr="0" anchor="ctr" bIns="91425" lIns="90000" spcFirstLastPara="1" rIns="90000" wrap="square" tIns="91425">
            <a:noAutofit/>
          </a:bodyPr>
          <a:lstStyle/>
          <a:p>
            <a:pPr indent="0" lvl="0" marL="0" marR="0" rtl="0" algn="r">
              <a:lnSpc>
                <a:spcPct val="100000"/>
              </a:lnSpc>
              <a:spcBef>
                <a:spcPts val="0"/>
              </a:spcBef>
              <a:spcAft>
                <a:spcPts val="0"/>
              </a:spcAft>
              <a:buClr>
                <a:srgbClr val="434343"/>
              </a:buClr>
              <a:buSzPts val="9600"/>
              <a:buFont typeface="Exo 2"/>
              <a:buNone/>
            </a:pPr>
            <a:r>
              <a:rPr b="1" i="0" lang="en" sz="9600" u="none" cap="none" strike="noStrike">
                <a:solidFill>
                  <a:srgbClr val="434343"/>
                </a:solidFill>
                <a:latin typeface="Exo 2"/>
                <a:ea typeface="Exo 2"/>
                <a:cs typeface="Exo 2"/>
                <a:sym typeface="Exo 2"/>
              </a:rPr>
              <a:t>0</a:t>
            </a:r>
            <a:r>
              <a:rPr b="1" lang="en" sz="9600">
                <a:solidFill>
                  <a:srgbClr val="434343"/>
                </a:solidFill>
                <a:latin typeface="Exo 2"/>
                <a:ea typeface="Exo 2"/>
                <a:cs typeface="Exo 2"/>
                <a:sym typeface="Exo 2"/>
              </a:rPr>
              <a:t>3</a:t>
            </a:r>
            <a:endParaRPr b="0" i="0" sz="9600" u="none" cap="none" strike="noStrike">
              <a:latin typeface="Arial"/>
              <a:ea typeface="Arial"/>
              <a:cs typeface="Arial"/>
              <a:sym typeface="Arial"/>
            </a:endParaRPr>
          </a:p>
        </p:txBody>
      </p:sp>
      <p:cxnSp>
        <p:nvCxnSpPr>
          <p:cNvPr id="268" name="Google Shape;268;p16"/>
          <p:cNvCxnSpPr/>
          <p:nvPr/>
        </p:nvCxnSpPr>
        <p:spPr>
          <a:xfrm>
            <a:off x="7578000" y="4028400"/>
            <a:ext cx="1572480" cy="6480"/>
          </a:xfrm>
          <a:prstGeom prst="straightConnector1">
            <a:avLst/>
          </a:prstGeom>
          <a:noFill/>
          <a:ln cap="flat" cmpd="sng" w="9525">
            <a:solidFill>
              <a:srgbClr val="434343"/>
            </a:solidFill>
            <a:prstDash val="solid"/>
            <a:round/>
            <a:headEnd len="sm" w="sm" type="none"/>
            <a:tailEnd len="sm" w="sm" type="none"/>
          </a:ln>
        </p:spPr>
      </p:cxnSp>
      <p:grpSp>
        <p:nvGrpSpPr>
          <p:cNvPr id="269" name="Google Shape;269;p16"/>
          <p:cNvGrpSpPr/>
          <p:nvPr/>
        </p:nvGrpSpPr>
        <p:grpSpPr>
          <a:xfrm>
            <a:off x="8089920" y="561240"/>
            <a:ext cx="416880" cy="415080"/>
            <a:chOff x="8089920" y="561240"/>
            <a:chExt cx="416880" cy="415080"/>
          </a:xfrm>
        </p:grpSpPr>
        <p:sp>
          <p:nvSpPr>
            <p:cNvPr id="270" name="Google Shape;270;p16"/>
            <p:cNvSpPr/>
            <p:nvPr/>
          </p:nvSpPr>
          <p:spPr>
            <a:xfrm>
              <a:off x="8211960" y="694800"/>
              <a:ext cx="294840" cy="281520"/>
            </a:xfrm>
            <a:custGeom>
              <a:rect b="b" l="l" r="r" t="t"/>
              <a:pathLst>
                <a:path extrusionOk="0" h="13593" w="14225">
                  <a:moveTo>
                    <a:pt x="5439" y="1112"/>
                  </a:moveTo>
                  <a:cubicBezTo>
                    <a:pt x="6380" y="1112"/>
                    <a:pt x="7409" y="1547"/>
                    <a:pt x="8123" y="2262"/>
                  </a:cubicBezTo>
                  <a:cubicBezTo>
                    <a:pt x="9657" y="3726"/>
                    <a:pt x="9657" y="6184"/>
                    <a:pt x="8123" y="7648"/>
                  </a:cubicBezTo>
                  <a:cubicBezTo>
                    <a:pt x="7409" y="8363"/>
                    <a:pt x="6450" y="8799"/>
                    <a:pt x="5439" y="8799"/>
                  </a:cubicBezTo>
                  <a:cubicBezTo>
                    <a:pt x="4428" y="8799"/>
                    <a:pt x="3487" y="8363"/>
                    <a:pt x="2754" y="7648"/>
                  </a:cubicBezTo>
                  <a:cubicBezTo>
                    <a:pt x="1221" y="6184"/>
                    <a:pt x="1221" y="3726"/>
                    <a:pt x="2754" y="2262"/>
                  </a:cubicBezTo>
                  <a:cubicBezTo>
                    <a:pt x="3487" y="1547"/>
                    <a:pt x="4428" y="1112"/>
                    <a:pt x="5439" y="1112"/>
                  </a:cubicBezTo>
                  <a:close/>
                  <a:moveTo>
                    <a:pt x="5430" y="0"/>
                  </a:moveTo>
                  <a:cubicBezTo>
                    <a:pt x="4149" y="0"/>
                    <a:pt x="2859" y="493"/>
                    <a:pt x="1883" y="1478"/>
                  </a:cubicBezTo>
                  <a:cubicBezTo>
                    <a:pt x="0" y="3360"/>
                    <a:pt x="0" y="6550"/>
                    <a:pt x="1883" y="8520"/>
                  </a:cubicBezTo>
                  <a:cubicBezTo>
                    <a:pt x="2824" y="9461"/>
                    <a:pt x="4132" y="9967"/>
                    <a:pt x="5439" y="9967"/>
                  </a:cubicBezTo>
                  <a:cubicBezTo>
                    <a:pt x="6607" y="9967"/>
                    <a:pt x="7618" y="9601"/>
                    <a:pt x="8489" y="8886"/>
                  </a:cubicBezTo>
                  <a:lnTo>
                    <a:pt x="9797" y="10193"/>
                  </a:lnTo>
                  <a:lnTo>
                    <a:pt x="9221" y="10838"/>
                  </a:lnTo>
                  <a:lnTo>
                    <a:pt x="11540" y="13157"/>
                  </a:lnTo>
                  <a:cubicBezTo>
                    <a:pt x="11836" y="13453"/>
                    <a:pt x="12202" y="13592"/>
                    <a:pt x="12551" y="13592"/>
                  </a:cubicBezTo>
                  <a:cubicBezTo>
                    <a:pt x="12987" y="13592"/>
                    <a:pt x="13353" y="13453"/>
                    <a:pt x="13649" y="13157"/>
                  </a:cubicBezTo>
                  <a:cubicBezTo>
                    <a:pt x="14224" y="12581"/>
                    <a:pt x="14224" y="11570"/>
                    <a:pt x="13649" y="10978"/>
                  </a:cubicBezTo>
                  <a:lnTo>
                    <a:pt x="11331" y="8659"/>
                  </a:lnTo>
                  <a:lnTo>
                    <a:pt x="10668" y="9391"/>
                  </a:lnTo>
                  <a:lnTo>
                    <a:pt x="9361" y="8084"/>
                  </a:lnTo>
                  <a:cubicBezTo>
                    <a:pt x="10895" y="6114"/>
                    <a:pt x="10738" y="3221"/>
                    <a:pt x="8925" y="1478"/>
                  </a:cubicBezTo>
                  <a:cubicBezTo>
                    <a:pt x="7984" y="493"/>
                    <a:pt x="6711" y="0"/>
                    <a:pt x="5430" y="0"/>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6"/>
            <p:cNvSpPr/>
            <p:nvPr/>
          </p:nvSpPr>
          <p:spPr>
            <a:xfrm>
              <a:off x="8089920" y="661320"/>
              <a:ext cx="267480" cy="67320"/>
            </a:xfrm>
            <a:custGeom>
              <a:rect b="b" l="l" r="r" t="t"/>
              <a:pathLst>
                <a:path extrusionOk="0" h="3487" w="12934">
                  <a:moveTo>
                    <a:pt x="1673" y="1151"/>
                  </a:moveTo>
                  <a:cubicBezTo>
                    <a:pt x="2039" y="1151"/>
                    <a:pt x="2266" y="1447"/>
                    <a:pt x="2266" y="1813"/>
                  </a:cubicBezTo>
                  <a:cubicBezTo>
                    <a:pt x="2336" y="2092"/>
                    <a:pt x="1970" y="2388"/>
                    <a:pt x="1673" y="2388"/>
                  </a:cubicBezTo>
                  <a:cubicBezTo>
                    <a:pt x="1307" y="2388"/>
                    <a:pt x="1098" y="2092"/>
                    <a:pt x="1098" y="1813"/>
                  </a:cubicBezTo>
                  <a:cubicBezTo>
                    <a:pt x="1028" y="1447"/>
                    <a:pt x="1395" y="1151"/>
                    <a:pt x="1673" y="1151"/>
                  </a:cubicBezTo>
                  <a:close/>
                  <a:moveTo>
                    <a:pt x="0" y="0"/>
                  </a:moveTo>
                  <a:lnTo>
                    <a:pt x="0" y="3487"/>
                  </a:lnTo>
                  <a:lnTo>
                    <a:pt x="5892" y="3487"/>
                  </a:lnTo>
                  <a:cubicBezTo>
                    <a:pt x="6101" y="3051"/>
                    <a:pt x="6467" y="2615"/>
                    <a:pt x="6833" y="2249"/>
                  </a:cubicBezTo>
                  <a:cubicBezTo>
                    <a:pt x="8001" y="1081"/>
                    <a:pt x="9517" y="436"/>
                    <a:pt x="11191" y="436"/>
                  </a:cubicBezTo>
                  <a:cubicBezTo>
                    <a:pt x="11766" y="436"/>
                    <a:pt x="12359" y="506"/>
                    <a:pt x="12934" y="645"/>
                  </a:cubicBezTo>
                  <a:lnTo>
                    <a:pt x="1293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6"/>
            <p:cNvSpPr/>
            <p:nvPr/>
          </p:nvSpPr>
          <p:spPr>
            <a:xfrm>
              <a:off x="8265240" y="761040"/>
              <a:ext cx="92160" cy="67320"/>
            </a:xfrm>
            <a:custGeom>
              <a:rect b="b" l="l" r="r" t="t"/>
              <a:pathLst>
                <a:path extrusionOk="0" h="3487" w="4655">
                  <a:moveTo>
                    <a:pt x="872" y="1"/>
                  </a:moveTo>
                  <a:cubicBezTo>
                    <a:pt x="1" y="1029"/>
                    <a:pt x="1" y="2476"/>
                    <a:pt x="803" y="3487"/>
                  </a:cubicBezTo>
                  <a:lnTo>
                    <a:pt x="4655" y="3487"/>
                  </a:lnTo>
                  <a:lnTo>
                    <a:pt x="4655" y="1"/>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6"/>
            <p:cNvSpPr/>
            <p:nvPr/>
          </p:nvSpPr>
          <p:spPr>
            <a:xfrm>
              <a:off x="8089920" y="761040"/>
              <a:ext cx="106200" cy="67320"/>
            </a:xfrm>
            <a:custGeom>
              <a:rect b="b" l="l" r="r" t="t"/>
              <a:pathLst>
                <a:path extrusionOk="0" h="3487" w="5317">
                  <a:moveTo>
                    <a:pt x="1673" y="1169"/>
                  </a:moveTo>
                  <a:cubicBezTo>
                    <a:pt x="2039" y="1169"/>
                    <a:pt x="2266" y="1465"/>
                    <a:pt x="2266" y="1744"/>
                  </a:cubicBezTo>
                  <a:cubicBezTo>
                    <a:pt x="2336" y="2110"/>
                    <a:pt x="1970" y="2406"/>
                    <a:pt x="1673" y="2406"/>
                  </a:cubicBezTo>
                  <a:cubicBezTo>
                    <a:pt x="1307" y="2406"/>
                    <a:pt x="1098" y="2110"/>
                    <a:pt x="1098" y="1744"/>
                  </a:cubicBezTo>
                  <a:cubicBezTo>
                    <a:pt x="1028" y="1465"/>
                    <a:pt x="1395" y="1169"/>
                    <a:pt x="1673" y="1169"/>
                  </a:cubicBezTo>
                  <a:close/>
                  <a:moveTo>
                    <a:pt x="0" y="1"/>
                  </a:moveTo>
                  <a:lnTo>
                    <a:pt x="0" y="3487"/>
                  </a:lnTo>
                  <a:lnTo>
                    <a:pt x="5317" y="3487"/>
                  </a:lnTo>
                  <a:cubicBezTo>
                    <a:pt x="5160" y="2981"/>
                    <a:pt x="5090" y="2406"/>
                    <a:pt x="5090" y="1831"/>
                  </a:cubicBezTo>
                  <a:cubicBezTo>
                    <a:pt x="5090" y="1238"/>
                    <a:pt x="5160" y="593"/>
                    <a:pt x="5317" y="1"/>
                  </a:cubicBez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6"/>
            <p:cNvSpPr/>
            <p:nvPr/>
          </p:nvSpPr>
          <p:spPr>
            <a:xfrm>
              <a:off x="8089920" y="561240"/>
              <a:ext cx="267480" cy="67320"/>
            </a:xfrm>
            <a:custGeom>
              <a:rect b="b" l="l" r="r" t="t"/>
              <a:pathLst>
                <a:path extrusionOk="0" h="3487" w="12934">
                  <a:moveTo>
                    <a:pt x="1673" y="1151"/>
                  </a:moveTo>
                  <a:cubicBezTo>
                    <a:pt x="2039" y="1151"/>
                    <a:pt x="2266" y="1447"/>
                    <a:pt x="2266" y="1813"/>
                  </a:cubicBezTo>
                  <a:cubicBezTo>
                    <a:pt x="2336" y="2110"/>
                    <a:pt x="1970" y="2388"/>
                    <a:pt x="1673" y="2388"/>
                  </a:cubicBezTo>
                  <a:cubicBezTo>
                    <a:pt x="1307" y="2388"/>
                    <a:pt x="1098" y="2110"/>
                    <a:pt x="1098" y="1813"/>
                  </a:cubicBezTo>
                  <a:cubicBezTo>
                    <a:pt x="1028" y="1447"/>
                    <a:pt x="1395" y="1151"/>
                    <a:pt x="1673" y="1151"/>
                  </a:cubicBezTo>
                  <a:close/>
                  <a:moveTo>
                    <a:pt x="0" y="0"/>
                  </a:moveTo>
                  <a:lnTo>
                    <a:pt x="0" y="3487"/>
                  </a:lnTo>
                  <a:lnTo>
                    <a:pt x="12934" y="3487"/>
                  </a:lnTo>
                  <a:lnTo>
                    <a:pt x="12934" y="0"/>
                  </a:lnTo>
                  <a:close/>
                </a:path>
              </a:pathLst>
            </a:cu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5" name="Google Shape;275;p16">
            <a:hlinkClick r:id="rId3"/>
          </p:cNvPr>
          <p:cNvSpPr/>
          <p:nvPr/>
        </p:nvSpPr>
        <p:spPr>
          <a:xfrm>
            <a:off x="7991640" y="463320"/>
            <a:ext cx="613800" cy="610920"/>
          </a:xfrm>
          <a:prstGeom prst="snip2DiagRect">
            <a:avLst>
              <a:gd fmla="val 0" name="adj1"/>
              <a:gd fmla="val 16667" name="adj2"/>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a62e891a3f_0_0"/>
          <p:cNvSpPr txBox="1"/>
          <p:nvPr/>
        </p:nvSpPr>
        <p:spPr>
          <a:xfrm>
            <a:off x="0" y="0"/>
            <a:ext cx="6987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Motivation</a:t>
            </a:r>
            <a:endParaRPr b="1" sz="3200">
              <a:solidFill>
                <a:schemeClr val="dk1"/>
              </a:solidFill>
            </a:endParaRPr>
          </a:p>
        </p:txBody>
      </p:sp>
      <p:sp>
        <p:nvSpPr>
          <p:cNvPr id="282" name="Google Shape;282;g3a62e891a3f_0_0"/>
          <p:cNvSpPr txBox="1"/>
          <p:nvPr/>
        </p:nvSpPr>
        <p:spPr>
          <a:xfrm>
            <a:off x="64875" y="824800"/>
            <a:ext cx="716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p:txBody>
      </p:sp>
      <p:sp>
        <p:nvSpPr>
          <p:cNvPr id="283" name="Google Shape;283;g3a62e891a3f_0_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g3a62e891a3f_0_0"/>
          <p:cNvSpPr txBox="1"/>
          <p:nvPr/>
        </p:nvSpPr>
        <p:spPr>
          <a:xfrm>
            <a:off x="352200" y="735425"/>
            <a:ext cx="8596200" cy="316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This imbalance shows in previous section , leads to an optimization paradox if a fixed learning rate is used:</a:t>
            </a:r>
            <a:endParaRPr sz="1800">
              <a:solidFill>
                <a:schemeClr val="dk1"/>
              </a:solidFill>
            </a:endParaRPr>
          </a:p>
          <a:p>
            <a:pPr indent="-342900" lvl="0" marL="457200" rtl="0" algn="l">
              <a:lnSpc>
                <a:spcPct val="115000"/>
              </a:lnSpc>
              <a:spcBef>
                <a:spcPts val="1200"/>
              </a:spcBef>
              <a:spcAft>
                <a:spcPts val="0"/>
              </a:spcAft>
              <a:buClr>
                <a:schemeClr val="dk1"/>
              </a:buClr>
              <a:buSzPts val="1800"/>
              <a:buAutoNum type="arabicPeriod"/>
            </a:pPr>
            <a:r>
              <a:rPr b="1" lang="en" sz="1800">
                <a:solidFill>
                  <a:schemeClr val="dk1"/>
                </a:solidFill>
              </a:rPr>
              <a:t>For frequently occurring features:</a:t>
            </a:r>
            <a:r>
              <a:rPr lang="en" sz="1800">
                <a:solidFill>
                  <a:schemeClr val="dk1"/>
                </a:solidFill>
              </a:rPr>
              <a:t> Their gradients are updated continuously. If learning rate is too large, the optimization process will oscillate heavily and fail to converge.</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rPr>
              <a:t>For rare (sparse) features:</a:t>
            </a:r>
            <a:r>
              <a:rPr lang="en" sz="1800">
                <a:solidFill>
                  <a:schemeClr val="dk1"/>
                </a:solidFill>
              </a:rPr>
              <a:t> Their gradients are often very small or "only rarely large". If learning rate is set small to accommodate frequent features, these rare features will learn almost nothing because the small update step is multiplied by low frequency.</a:t>
            </a:r>
            <a:endParaRPr sz="1800">
              <a:solidFill>
                <a:schemeClr val="dk1"/>
              </a:solidFill>
            </a:endParaRPr>
          </a:p>
        </p:txBody>
      </p:sp>
      <p:sp>
        <p:nvSpPr>
          <p:cNvPr id="285" name="Google Shape;285;g3a62e891a3f_0_0"/>
          <p:cNvSpPr txBox="1"/>
          <p:nvPr/>
        </p:nvSpPr>
        <p:spPr>
          <a:xfrm>
            <a:off x="471200" y="4017425"/>
            <a:ext cx="8596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=&gt; Adagrad proposes a </a:t>
            </a:r>
            <a:r>
              <a:rPr b="1" lang="en" sz="1800">
                <a:solidFill>
                  <a:schemeClr val="dk1"/>
                </a:solidFill>
              </a:rPr>
              <a:t>coordinate-wise</a:t>
            </a:r>
            <a:r>
              <a:rPr lang="en" sz="1800">
                <a:solidFill>
                  <a:schemeClr val="dk1"/>
                </a:solidFill>
              </a:rPr>
              <a:t> </a:t>
            </a:r>
            <a:r>
              <a:rPr b="1" lang="en" sz="1800">
                <a:solidFill>
                  <a:schemeClr val="dk1"/>
                </a:solidFill>
              </a:rPr>
              <a:t>adaptive </a:t>
            </a:r>
            <a:r>
              <a:rPr lang="en" sz="1800">
                <a:solidFill>
                  <a:schemeClr val="dk1"/>
                </a:solidFill>
              </a:rPr>
              <a:t>learning rate.</a:t>
            </a:r>
            <a:endParaRPr sz="1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afa403a642_1_8"/>
          <p:cNvSpPr txBox="1"/>
          <p:nvPr/>
        </p:nvSpPr>
        <p:spPr>
          <a:xfrm>
            <a:off x="0" y="0"/>
            <a:ext cx="6987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Motivation</a:t>
            </a:r>
            <a:endParaRPr b="1" sz="3200">
              <a:solidFill>
                <a:schemeClr val="dk1"/>
              </a:solidFill>
            </a:endParaRPr>
          </a:p>
        </p:txBody>
      </p:sp>
      <p:sp>
        <p:nvSpPr>
          <p:cNvPr id="291" name="Google Shape;291;g3afa403a642_1_8"/>
          <p:cNvSpPr txBox="1"/>
          <p:nvPr/>
        </p:nvSpPr>
        <p:spPr>
          <a:xfrm>
            <a:off x="64875" y="824800"/>
            <a:ext cx="716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p:txBody>
      </p:sp>
      <p:sp>
        <p:nvSpPr>
          <p:cNvPr id="292" name="Google Shape;292;g3afa403a642_1_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g3afa403a642_1_8"/>
          <p:cNvSpPr txBox="1"/>
          <p:nvPr/>
        </p:nvSpPr>
        <p:spPr>
          <a:xfrm>
            <a:off x="352200" y="735425"/>
            <a:ext cx="8596200" cy="316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This imbalance shows in previous section , leads to an optimization paradox if a fixed learning rate is used:</a:t>
            </a:r>
            <a:endParaRPr sz="1800">
              <a:solidFill>
                <a:schemeClr val="dk1"/>
              </a:solidFill>
            </a:endParaRPr>
          </a:p>
          <a:p>
            <a:pPr indent="-342900" lvl="0" marL="457200" rtl="0" algn="l">
              <a:lnSpc>
                <a:spcPct val="115000"/>
              </a:lnSpc>
              <a:spcBef>
                <a:spcPts val="1200"/>
              </a:spcBef>
              <a:spcAft>
                <a:spcPts val="0"/>
              </a:spcAft>
              <a:buClr>
                <a:schemeClr val="dk1"/>
              </a:buClr>
              <a:buSzPts val="1800"/>
              <a:buAutoNum type="arabicPeriod"/>
            </a:pPr>
            <a:r>
              <a:rPr b="1" lang="en" sz="1800">
                <a:solidFill>
                  <a:schemeClr val="dk1"/>
                </a:solidFill>
              </a:rPr>
              <a:t>For frequently occurring features:</a:t>
            </a:r>
            <a:r>
              <a:rPr lang="en" sz="1800">
                <a:solidFill>
                  <a:schemeClr val="dk1"/>
                </a:solidFill>
              </a:rPr>
              <a:t> Their gradients are updated continuously. If learning rate is too large, the optimization process will oscillate heavily and fail to converge.</a:t>
            </a:r>
            <a:endParaRPr sz="1800">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rPr>
              <a:t>For rare (sparse) features:</a:t>
            </a:r>
            <a:r>
              <a:rPr lang="en" sz="1800">
                <a:solidFill>
                  <a:schemeClr val="dk1"/>
                </a:solidFill>
              </a:rPr>
              <a:t> Their gradients are often very small or "only rarely large". If learning rate is set small to accommodate frequent features, these rare features will learn almost nothing because the small update step is multiplied by low frequency.</a:t>
            </a:r>
            <a:endParaRPr sz="1800">
              <a:solidFill>
                <a:schemeClr val="dk1"/>
              </a:solidFill>
            </a:endParaRPr>
          </a:p>
        </p:txBody>
      </p:sp>
      <p:sp>
        <p:nvSpPr>
          <p:cNvPr id="294" name="Google Shape;294;g3afa403a642_1_8"/>
          <p:cNvSpPr txBox="1"/>
          <p:nvPr/>
        </p:nvSpPr>
        <p:spPr>
          <a:xfrm>
            <a:off x="471200" y="4017425"/>
            <a:ext cx="8596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=&gt; Adagrad proposes a </a:t>
            </a:r>
            <a:r>
              <a:rPr b="1" lang="en" sz="1800">
                <a:solidFill>
                  <a:schemeClr val="dk1"/>
                </a:solidFill>
              </a:rPr>
              <a:t>coordinate-wise</a:t>
            </a:r>
            <a:r>
              <a:rPr lang="en" sz="1800">
                <a:solidFill>
                  <a:schemeClr val="dk1"/>
                </a:solidFill>
              </a:rPr>
              <a:t> </a:t>
            </a:r>
            <a:r>
              <a:rPr b="1" lang="en" sz="1800">
                <a:solidFill>
                  <a:schemeClr val="dk1"/>
                </a:solidFill>
              </a:rPr>
              <a:t>adaptive </a:t>
            </a:r>
            <a:r>
              <a:rPr lang="en" sz="1800">
                <a:solidFill>
                  <a:schemeClr val="dk1"/>
                </a:solidFill>
              </a:rPr>
              <a:t>learning rate.</a:t>
            </a:r>
            <a:endParaRPr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afa403a642_1_16"/>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Precondition (Convex Quadratic Problems)</a:t>
            </a:r>
            <a:endParaRPr b="1" sz="3200">
              <a:solidFill>
                <a:schemeClr val="dk1"/>
              </a:solidFill>
            </a:endParaRPr>
          </a:p>
        </p:txBody>
      </p:sp>
      <p:sp>
        <p:nvSpPr>
          <p:cNvPr id="300" name="Google Shape;300;g3afa403a642_1_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01" name="Google Shape;301;g3afa403a642_1_16"/>
          <p:cNvPicPr preferRelativeResize="0"/>
          <p:nvPr/>
        </p:nvPicPr>
        <p:blipFill>
          <a:blip r:embed="rId3">
            <a:alphaModFix/>
          </a:blip>
          <a:stretch>
            <a:fillRect/>
          </a:stretch>
        </p:blipFill>
        <p:spPr>
          <a:xfrm>
            <a:off x="152400" y="829500"/>
            <a:ext cx="8839199" cy="311076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afa927e447_0_99"/>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Precondition (Convex Quadratic Problems)</a:t>
            </a:r>
            <a:endParaRPr b="1" sz="3200">
              <a:solidFill>
                <a:schemeClr val="dk1"/>
              </a:solidFill>
            </a:endParaRPr>
          </a:p>
        </p:txBody>
      </p:sp>
      <p:sp>
        <p:nvSpPr>
          <p:cNvPr id="307" name="Google Shape;307;g3afa927e447_0_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08" name="Google Shape;308;g3afa927e447_0_99"/>
          <p:cNvPicPr preferRelativeResize="0"/>
          <p:nvPr/>
        </p:nvPicPr>
        <p:blipFill>
          <a:blip r:embed="rId3">
            <a:alphaModFix/>
          </a:blip>
          <a:stretch>
            <a:fillRect/>
          </a:stretch>
        </p:blipFill>
        <p:spPr>
          <a:xfrm>
            <a:off x="152400" y="829500"/>
            <a:ext cx="8735534" cy="368131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fa927e447_0_11"/>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Precondition (Convex Quadratic Problems)</a:t>
            </a:r>
            <a:endParaRPr b="1" sz="3200">
              <a:solidFill>
                <a:schemeClr val="dk1"/>
              </a:solidFill>
            </a:endParaRPr>
          </a:p>
        </p:txBody>
      </p:sp>
      <p:sp>
        <p:nvSpPr>
          <p:cNvPr id="314" name="Google Shape;314;g3afa927e447_0_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g3afa927e447_0_11"/>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16" name="Google Shape;316;g3afa927e447_0_11"/>
          <p:cNvPicPr preferRelativeResize="0"/>
          <p:nvPr/>
        </p:nvPicPr>
        <p:blipFill>
          <a:blip r:embed="rId3">
            <a:alphaModFix/>
          </a:blip>
          <a:stretch>
            <a:fillRect/>
          </a:stretch>
        </p:blipFill>
        <p:spPr>
          <a:xfrm>
            <a:off x="76200" y="1129700"/>
            <a:ext cx="8991598" cy="288410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afa927e447_0_28"/>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Precondition (Convex Quadratic Problems)</a:t>
            </a:r>
            <a:endParaRPr b="1" sz="3200">
              <a:solidFill>
                <a:schemeClr val="dk1"/>
              </a:solidFill>
            </a:endParaRPr>
          </a:p>
        </p:txBody>
      </p:sp>
      <p:sp>
        <p:nvSpPr>
          <p:cNvPr id="322" name="Google Shape;322;g3afa927e447_0_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g3afa927e447_0_28"/>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24" name="Google Shape;324;g3afa927e447_0_28"/>
          <p:cNvPicPr preferRelativeResize="0"/>
          <p:nvPr/>
        </p:nvPicPr>
        <p:blipFill>
          <a:blip r:embed="rId3">
            <a:alphaModFix/>
          </a:blip>
          <a:stretch>
            <a:fillRect/>
          </a:stretch>
        </p:blipFill>
        <p:spPr>
          <a:xfrm>
            <a:off x="152400" y="829500"/>
            <a:ext cx="8868750" cy="333311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afa927e447_0_45"/>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Precondition (Convex Quadratic Problems)</a:t>
            </a:r>
            <a:endParaRPr b="1" sz="3200">
              <a:solidFill>
                <a:schemeClr val="dk1"/>
              </a:solidFill>
            </a:endParaRPr>
          </a:p>
        </p:txBody>
      </p:sp>
      <p:sp>
        <p:nvSpPr>
          <p:cNvPr id="330" name="Google Shape;330;g3afa927e447_0_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g3afa927e447_0_45"/>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32" name="Google Shape;332;g3afa927e447_0_45"/>
          <p:cNvPicPr preferRelativeResize="0"/>
          <p:nvPr/>
        </p:nvPicPr>
        <p:blipFill>
          <a:blip r:embed="rId3">
            <a:alphaModFix/>
          </a:blip>
          <a:stretch>
            <a:fillRect/>
          </a:stretch>
        </p:blipFill>
        <p:spPr>
          <a:xfrm>
            <a:off x="233407" y="919675"/>
            <a:ext cx="5054424" cy="37435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afa927e447_0_53"/>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The Algorithm Adagrad</a:t>
            </a:r>
            <a:endParaRPr b="1" sz="3200">
              <a:solidFill>
                <a:schemeClr val="dk1"/>
              </a:solidFill>
            </a:endParaRPr>
          </a:p>
        </p:txBody>
      </p:sp>
      <p:sp>
        <p:nvSpPr>
          <p:cNvPr id="338" name="Google Shape;338;g3afa927e447_0_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g3afa927e447_0_53"/>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40" name="Google Shape;340;g3afa927e447_0_53"/>
          <p:cNvPicPr preferRelativeResize="0"/>
          <p:nvPr/>
        </p:nvPicPr>
        <p:blipFill>
          <a:blip r:embed="rId3">
            <a:alphaModFix/>
          </a:blip>
          <a:stretch>
            <a:fillRect/>
          </a:stretch>
        </p:blipFill>
        <p:spPr>
          <a:xfrm>
            <a:off x="152400" y="829500"/>
            <a:ext cx="8617199" cy="355863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afa927e447_0_62"/>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The Algorithm Adagrad</a:t>
            </a:r>
            <a:endParaRPr b="1" sz="3200">
              <a:solidFill>
                <a:schemeClr val="dk1"/>
              </a:solidFill>
            </a:endParaRPr>
          </a:p>
        </p:txBody>
      </p:sp>
      <p:sp>
        <p:nvSpPr>
          <p:cNvPr id="346" name="Google Shape;346;g3afa927e447_0_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g3afa927e447_0_62"/>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48" name="Google Shape;348;g3afa927e447_0_62"/>
          <p:cNvPicPr preferRelativeResize="0"/>
          <p:nvPr/>
        </p:nvPicPr>
        <p:blipFill>
          <a:blip r:embed="rId3">
            <a:alphaModFix/>
          </a:blip>
          <a:stretch>
            <a:fillRect/>
          </a:stretch>
        </p:blipFill>
        <p:spPr>
          <a:xfrm>
            <a:off x="152400" y="829500"/>
            <a:ext cx="8617199" cy="37972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afa927e447_0_70"/>
          <p:cNvSpPr txBox="1"/>
          <p:nvPr/>
        </p:nvSpPr>
        <p:spPr>
          <a:xfrm>
            <a:off x="0" y="0"/>
            <a:ext cx="8769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dk1"/>
                </a:solidFill>
              </a:rPr>
              <a:t>Summary of Adagrad</a:t>
            </a:r>
            <a:endParaRPr b="1" sz="3200">
              <a:solidFill>
                <a:schemeClr val="dk1"/>
              </a:solidFill>
            </a:endParaRPr>
          </a:p>
        </p:txBody>
      </p:sp>
      <p:sp>
        <p:nvSpPr>
          <p:cNvPr id="354" name="Google Shape;354;g3afa927e447_0_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g3afa927e447_0_70"/>
          <p:cNvSpPr txBox="1"/>
          <p:nvPr/>
        </p:nvSpPr>
        <p:spPr>
          <a:xfrm>
            <a:off x="352200" y="2847300"/>
            <a:ext cx="703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56" name="Google Shape;356;g3afa927e447_0_70"/>
          <p:cNvPicPr preferRelativeResize="0"/>
          <p:nvPr/>
        </p:nvPicPr>
        <p:blipFill>
          <a:blip r:embed="rId3">
            <a:alphaModFix/>
          </a:blip>
          <a:stretch>
            <a:fillRect/>
          </a:stretch>
        </p:blipFill>
        <p:spPr>
          <a:xfrm>
            <a:off x="76200" y="938050"/>
            <a:ext cx="8991599" cy="28827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a60d55e3b1_0_39"/>
          <p:cNvSpPr txBox="1"/>
          <p:nvPr>
            <p:ph idx="4294967295" type="title"/>
          </p:nvPr>
        </p:nvSpPr>
        <p:spPr>
          <a:xfrm>
            <a:off x="605975" y="1591835"/>
            <a:ext cx="7766400" cy="2047800"/>
          </a:xfrm>
          <a:prstGeom prst="rect">
            <a:avLst/>
          </a:prstGeom>
          <a:noFill/>
          <a:ln>
            <a:noFill/>
          </a:ln>
        </p:spPr>
        <p:txBody>
          <a:bodyPr anchorCtr="0" anchor="b" bIns="91425" lIns="90000" spcFirstLastPara="1" rIns="90000" wrap="square" tIns="91425">
            <a:noAutofit/>
          </a:bodyPr>
          <a:lstStyle/>
          <a:p>
            <a:pPr indent="0" lvl="0" marL="0" rtl="0" algn="ctr">
              <a:spcBef>
                <a:spcPts val="0"/>
              </a:spcBef>
              <a:spcAft>
                <a:spcPts val="0"/>
              </a:spcAft>
              <a:buClr>
                <a:schemeClr val="dk1"/>
              </a:buClr>
              <a:buSzPts val="1100"/>
              <a:buFont typeface="Arial"/>
              <a:buNone/>
            </a:pPr>
            <a:r>
              <a:rPr lang="en" sz="4200"/>
              <a:t>Resolve exercises</a:t>
            </a:r>
            <a:endParaRPr sz="4200"/>
          </a:p>
          <a:p>
            <a:pPr indent="0" lvl="0" marL="0" marR="0" rtl="0" algn="l">
              <a:lnSpc>
                <a:spcPct val="100000"/>
              </a:lnSpc>
              <a:spcBef>
                <a:spcPts val="0"/>
              </a:spcBef>
              <a:spcAft>
                <a:spcPts val="0"/>
              </a:spcAft>
              <a:buClr>
                <a:srgbClr val="434343"/>
              </a:buClr>
              <a:buSzPts val="4200"/>
              <a:buFont typeface="Exo 2"/>
              <a:buNone/>
            </a:pPr>
            <a:r>
              <a:t/>
            </a:r>
            <a:endParaRPr sz="4200"/>
          </a:p>
        </p:txBody>
      </p:sp>
      <p:sp>
        <p:nvSpPr>
          <p:cNvPr id="362" name="Google Shape;362;g3a60d55e3b1_0_39"/>
          <p:cNvSpPr/>
          <p:nvPr/>
        </p:nvSpPr>
        <p:spPr>
          <a:xfrm>
            <a:off x="150125" y="3763625"/>
            <a:ext cx="4689900" cy="1380000"/>
          </a:xfrm>
          <a:prstGeom prst="rect">
            <a:avLst/>
          </a:prstGeom>
          <a:noFill/>
          <a:ln>
            <a:noFill/>
          </a:ln>
        </p:spPr>
        <p:txBody>
          <a:bodyPr anchorCtr="0" anchor="t" bIns="91425" lIns="0" spcFirstLastPara="1" rIns="0" wrap="square" tIns="91425">
            <a:noAutofit/>
          </a:bodyPr>
          <a:lstStyle/>
          <a:p>
            <a:pPr indent="45720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363" name="Google Shape;363;g3a60d55e3b1_0_39"/>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364" name="Google Shape;364;g3a60d55e3b1_0_39"/>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365" name="Google Shape;365;g3a60d55e3b1_0_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a60d55e3b1_0_47"/>
          <p:cNvSpPr txBox="1"/>
          <p:nvPr>
            <p:ph idx="4294967295" type="title"/>
          </p:nvPr>
        </p:nvSpPr>
        <p:spPr>
          <a:xfrm>
            <a:off x="800350" y="1122571"/>
            <a:ext cx="7959300" cy="710700"/>
          </a:xfrm>
          <a:prstGeom prst="rect">
            <a:avLst/>
          </a:prstGeom>
          <a:noFill/>
          <a:ln>
            <a:noFill/>
          </a:ln>
        </p:spPr>
        <p:txBody>
          <a:bodyPr anchorCtr="0" anchor="t" bIns="91425" lIns="90000" spcFirstLastPara="1" rIns="90000" wrap="square" tIns="91425">
            <a:noAutofit/>
          </a:bodyPr>
          <a:lstStyle/>
          <a:p>
            <a:pPr indent="-355600" lvl="0" marL="457200" rtl="0" algn="just">
              <a:spcBef>
                <a:spcPts val="0"/>
              </a:spcBef>
              <a:spcAft>
                <a:spcPts val="0"/>
              </a:spcAft>
              <a:buClr>
                <a:schemeClr val="dk1"/>
              </a:buClr>
              <a:buSzPts val="2000"/>
              <a:buAutoNum type="arabicPeriod"/>
            </a:pPr>
            <a:r>
              <a:rPr lang="en" sz="2000">
                <a:solidFill>
                  <a:schemeClr val="dk1"/>
                </a:solidFill>
              </a:rPr>
              <a:t>Prove that for an orthogonal matrix and a vector the following holds: </a:t>
            </a:r>
            <a:endParaRPr sz="2000"/>
          </a:p>
        </p:txBody>
      </p:sp>
      <p:sp>
        <p:nvSpPr>
          <p:cNvPr id="371" name="Google Shape;371;g3a60d55e3b1_0_47"/>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372" name="Google Shape;372;g3a60d55e3b1_0_47"/>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pic>
        <p:nvPicPr>
          <p:cNvPr id="373" name="Google Shape;373;g3a60d55e3b1_0_47"/>
          <p:cNvPicPr preferRelativeResize="0"/>
          <p:nvPr/>
        </p:nvPicPr>
        <p:blipFill>
          <a:blip r:embed="rId4">
            <a:alphaModFix/>
          </a:blip>
          <a:stretch>
            <a:fillRect/>
          </a:stretch>
        </p:blipFill>
        <p:spPr>
          <a:xfrm>
            <a:off x="2705100" y="2090588"/>
            <a:ext cx="3733800" cy="628650"/>
          </a:xfrm>
          <a:prstGeom prst="rect">
            <a:avLst/>
          </a:prstGeom>
          <a:noFill/>
          <a:ln>
            <a:noFill/>
          </a:ln>
        </p:spPr>
      </p:pic>
      <p:sp>
        <p:nvSpPr>
          <p:cNvPr id="374" name="Google Shape;374;g3a60d55e3b1_0_47"/>
          <p:cNvSpPr txBox="1"/>
          <p:nvPr/>
        </p:nvSpPr>
        <p:spPr>
          <a:xfrm>
            <a:off x="950200" y="2976550"/>
            <a:ext cx="7659600" cy="800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chemeClr val="dk1"/>
                </a:solidFill>
              </a:rPr>
              <a:t>Why does this mean that the magnitude of perturbations does not change after an orthogonal change of variables?</a:t>
            </a:r>
            <a:endParaRPr sz="2000">
              <a:solidFill>
                <a:schemeClr val="dk1"/>
              </a:solidFill>
            </a:endParaRPr>
          </a:p>
        </p:txBody>
      </p:sp>
      <p:sp>
        <p:nvSpPr>
          <p:cNvPr id="375" name="Google Shape;375;g3a60d55e3b1_0_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g3a60d55e3b1_0_26"/>
          <p:cNvPicPr preferRelativeResize="0"/>
          <p:nvPr/>
        </p:nvPicPr>
        <p:blipFill>
          <a:blip r:embed="rId3">
            <a:alphaModFix/>
          </a:blip>
          <a:stretch>
            <a:fillRect/>
          </a:stretch>
        </p:blipFill>
        <p:spPr>
          <a:xfrm>
            <a:off x="632326" y="316488"/>
            <a:ext cx="8144273" cy="4510525"/>
          </a:xfrm>
          <a:prstGeom prst="rect">
            <a:avLst/>
          </a:prstGeom>
          <a:noFill/>
          <a:ln>
            <a:noFill/>
          </a:ln>
        </p:spPr>
      </p:pic>
      <p:sp>
        <p:nvSpPr>
          <p:cNvPr id="381" name="Google Shape;381;g3a60d55e3b1_0_2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a60d55e3b1_0_66"/>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387" name="Google Shape;387;g3a60d55e3b1_0_66"/>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388" name="Google Shape;388;g3a60d55e3b1_0_66"/>
          <p:cNvSpPr txBox="1"/>
          <p:nvPr>
            <p:ph idx="4294967295" type="title"/>
          </p:nvPr>
        </p:nvSpPr>
        <p:spPr>
          <a:xfrm>
            <a:off x="833950" y="1508450"/>
            <a:ext cx="7766400" cy="2641800"/>
          </a:xfrm>
          <a:prstGeom prst="rect">
            <a:avLst/>
          </a:prstGeom>
          <a:noFill/>
          <a:ln>
            <a:noFill/>
          </a:ln>
        </p:spPr>
        <p:txBody>
          <a:bodyPr anchorCtr="0" anchor="t" bIns="91425" lIns="90000" spcFirstLastPara="1" rIns="90000"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rPr>
              <a:t>An orthogonal matrix represents an </a:t>
            </a:r>
            <a:r>
              <a:rPr b="1" lang="en" sz="2400">
                <a:solidFill>
                  <a:schemeClr val="dk1"/>
                </a:solidFill>
              </a:rPr>
              <a:t>isometry</a:t>
            </a:r>
            <a:r>
              <a:rPr lang="en" sz="2400">
                <a:solidFill>
                  <a:schemeClr val="dk1"/>
                </a:solidFill>
              </a:rPr>
              <a:t> in Euclidean space: it performs rotations or reflections (or their combinations). These transformations preserve </a:t>
            </a:r>
            <a:r>
              <a:rPr b="1" lang="en" sz="2400">
                <a:solidFill>
                  <a:schemeClr val="dk1"/>
                </a:solidFill>
              </a:rPr>
              <a:t>lengths</a:t>
            </a:r>
            <a:r>
              <a:rPr lang="en" sz="2400">
                <a:solidFill>
                  <a:schemeClr val="dk1"/>
                </a:solidFill>
              </a:rPr>
              <a:t> and </a:t>
            </a:r>
            <a:r>
              <a:rPr b="1" lang="en" sz="2400">
                <a:solidFill>
                  <a:schemeClr val="dk1"/>
                </a:solidFill>
              </a:rPr>
              <a:t>angles</a:t>
            </a:r>
            <a:r>
              <a:rPr lang="en" sz="2400">
                <a:solidFill>
                  <a:schemeClr val="dk1"/>
                </a:solidFill>
              </a:rPr>
              <a:t>. Therefore, the magnitude of the perturbation </a:t>
            </a:r>
            <a:r>
              <a:rPr b="1" lang="en" sz="2400">
                <a:solidFill>
                  <a:schemeClr val="dk1"/>
                </a:solidFill>
              </a:rPr>
              <a:t>c−δ </a:t>
            </a:r>
            <a:r>
              <a:rPr lang="en" sz="2400">
                <a:solidFill>
                  <a:schemeClr val="dk1"/>
                </a:solidFill>
              </a:rPr>
              <a:t>remains unchanged under an orthogonal change of basis via </a:t>
            </a:r>
            <a:r>
              <a:rPr b="1" lang="en" sz="2400">
                <a:solidFill>
                  <a:schemeClr val="dk1"/>
                </a:solidFill>
              </a:rPr>
              <a:t>U</a:t>
            </a:r>
            <a:endParaRPr sz="2400">
              <a:solidFill>
                <a:schemeClr val="dk1"/>
              </a:solidFill>
            </a:endParaRPr>
          </a:p>
        </p:txBody>
      </p:sp>
      <p:sp>
        <p:nvSpPr>
          <p:cNvPr id="389" name="Google Shape;389;g3a60d55e3b1_0_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a60d55e3b1_0_79"/>
          <p:cNvSpPr txBox="1"/>
          <p:nvPr>
            <p:ph idx="4294967295" type="title"/>
          </p:nvPr>
        </p:nvSpPr>
        <p:spPr>
          <a:xfrm>
            <a:off x="952450" y="1312489"/>
            <a:ext cx="7647900" cy="1151100"/>
          </a:xfrm>
          <a:prstGeom prst="rect">
            <a:avLst/>
          </a:prstGeom>
          <a:noFill/>
          <a:ln>
            <a:noFill/>
          </a:ln>
        </p:spPr>
        <p:txBody>
          <a:bodyPr anchorCtr="0" anchor="t" bIns="91425" lIns="90000" spcFirstLastPara="1" rIns="90000" wrap="square" tIns="91425">
            <a:noAutofit/>
          </a:bodyPr>
          <a:lstStyle/>
          <a:p>
            <a:pPr indent="0" lvl="0" marL="0" rtl="0" algn="just">
              <a:spcBef>
                <a:spcPts val="0"/>
              </a:spcBef>
              <a:spcAft>
                <a:spcPts val="0"/>
              </a:spcAft>
              <a:buNone/>
            </a:pPr>
            <a:r>
              <a:rPr lang="en" sz="2400">
                <a:solidFill>
                  <a:schemeClr val="dk1"/>
                </a:solidFill>
              </a:rPr>
              <a:t>4. What does Gerschgorin’s theorem tell us about the eigenvalues of the diagonally preconditioned matrix</a:t>
            </a:r>
            <a:r>
              <a:rPr lang="en" sz="2400">
                <a:solidFill>
                  <a:schemeClr val="dk1"/>
                </a:solidFill>
              </a:rPr>
              <a:t> </a:t>
            </a:r>
            <a:endParaRPr sz="2400"/>
          </a:p>
        </p:txBody>
      </p:sp>
      <p:sp>
        <p:nvSpPr>
          <p:cNvPr id="395" name="Google Shape;395;g3a60d55e3b1_0_79"/>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396" name="Google Shape;396;g3a60d55e3b1_0_79"/>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pic>
        <p:nvPicPr>
          <p:cNvPr id="397" name="Google Shape;397;g3a60d55e3b1_0_79"/>
          <p:cNvPicPr preferRelativeResize="0"/>
          <p:nvPr/>
        </p:nvPicPr>
        <p:blipFill>
          <a:blip r:embed="rId4">
            <a:alphaModFix/>
          </a:blip>
          <a:stretch>
            <a:fillRect/>
          </a:stretch>
        </p:blipFill>
        <p:spPr>
          <a:xfrm>
            <a:off x="2581275" y="2589125"/>
            <a:ext cx="3981450" cy="571500"/>
          </a:xfrm>
          <a:prstGeom prst="rect">
            <a:avLst/>
          </a:prstGeom>
          <a:noFill/>
          <a:ln>
            <a:noFill/>
          </a:ln>
        </p:spPr>
      </p:pic>
      <p:sp>
        <p:nvSpPr>
          <p:cNvPr id="398" name="Google Shape;398;g3a60d55e3b1_0_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a60d55e3b1_0_95"/>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404" name="Google Shape;404;g3a60d55e3b1_0_95"/>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405" name="Google Shape;405;g3a60d55e3b1_0_95"/>
          <p:cNvSpPr txBox="1"/>
          <p:nvPr>
            <p:ph idx="4294967295" type="title"/>
          </p:nvPr>
        </p:nvSpPr>
        <p:spPr>
          <a:xfrm>
            <a:off x="799425" y="534488"/>
            <a:ext cx="7177200" cy="820800"/>
          </a:xfrm>
          <a:prstGeom prst="rect">
            <a:avLst/>
          </a:prstGeom>
          <a:noFill/>
          <a:ln>
            <a:noFill/>
          </a:ln>
        </p:spPr>
        <p:txBody>
          <a:bodyPr anchorCtr="0" anchor="t" bIns="91425" lIns="90000" spcFirstLastPara="1" rIns="90000" wrap="square" tIns="91425">
            <a:noAutofit/>
          </a:bodyPr>
          <a:lstStyle/>
          <a:p>
            <a:pPr indent="0" lvl="0" marL="0" rtl="0" algn="l">
              <a:spcBef>
                <a:spcPts val="0"/>
              </a:spcBef>
              <a:spcAft>
                <a:spcPts val="0"/>
              </a:spcAft>
              <a:buClr>
                <a:schemeClr val="dk1"/>
              </a:buClr>
              <a:buSzPts val="1100"/>
              <a:buFont typeface="Arial"/>
              <a:buNone/>
            </a:pPr>
            <a:r>
              <a:rPr lang="en" sz="2200">
                <a:solidFill>
                  <a:schemeClr val="dk1"/>
                </a:solidFill>
              </a:rPr>
              <a:t>The original formula in the document is:</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a:p>
            <a:pPr indent="0" lvl="0" marL="0" rtl="0" algn="l">
              <a:spcBef>
                <a:spcPts val="0"/>
              </a:spcBef>
              <a:spcAft>
                <a:spcPts val="0"/>
              </a:spcAft>
              <a:buClr>
                <a:schemeClr val="dk1"/>
              </a:buClr>
              <a:buSzPts val="1100"/>
              <a:buFont typeface="Arial"/>
              <a:buNone/>
            </a:pPr>
            <a:r>
              <a:t/>
            </a:r>
            <a:endParaRPr sz="2200">
              <a:solidFill>
                <a:schemeClr val="dk1"/>
              </a:solidFill>
            </a:endParaRPr>
          </a:p>
        </p:txBody>
      </p:sp>
      <p:pic>
        <p:nvPicPr>
          <p:cNvPr id="406" name="Google Shape;406;g3a60d55e3b1_0_95"/>
          <p:cNvPicPr preferRelativeResize="0"/>
          <p:nvPr/>
        </p:nvPicPr>
        <p:blipFill>
          <a:blip r:embed="rId4">
            <a:alphaModFix/>
          </a:blip>
          <a:stretch>
            <a:fillRect/>
          </a:stretch>
        </p:blipFill>
        <p:spPr>
          <a:xfrm>
            <a:off x="2104000" y="1259063"/>
            <a:ext cx="4330450" cy="710700"/>
          </a:xfrm>
          <a:prstGeom prst="rect">
            <a:avLst/>
          </a:prstGeom>
          <a:noFill/>
          <a:ln>
            <a:noFill/>
          </a:ln>
        </p:spPr>
      </p:pic>
      <p:pic>
        <p:nvPicPr>
          <p:cNvPr id="407" name="Google Shape;407;g3a60d55e3b1_0_95"/>
          <p:cNvPicPr preferRelativeResize="0"/>
          <p:nvPr/>
        </p:nvPicPr>
        <p:blipFill>
          <a:blip r:embed="rId5">
            <a:alphaModFix/>
          </a:blip>
          <a:stretch>
            <a:fillRect/>
          </a:stretch>
        </p:blipFill>
        <p:spPr>
          <a:xfrm>
            <a:off x="2426325" y="2694338"/>
            <a:ext cx="2305475" cy="618600"/>
          </a:xfrm>
          <a:prstGeom prst="rect">
            <a:avLst/>
          </a:prstGeom>
          <a:noFill/>
          <a:ln>
            <a:noFill/>
          </a:ln>
        </p:spPr>
      </p:pic>
      <p:pic>
        <p:nvPicPr>
          <p:cNvPr id="408" name="Google Shape;408;g3a60d55e3b1_0_95"/>
          <p:cNvPicPr preferRelativeResize="0"/>
          <p:nvPr/>
        </p:nvPicPr>
        <p:blipFill>
          <a:blip r:embed="rId6">
            <a:alphaModFix/>
          </a:blip>
          <a:stretch>
            <a:fillRect/>
          </a:stretch>
        </p:blipFill>
        <p:spPr>
          <a:xfrm>
            <a:off x="2750600" y="4037513"/>
            <a:ext cx="1981200" cy="571500"/>
          </a:xfrm>
          <a:prstGeom prst="rect">
            <a:avLst/>
          </a:prstGeom>
          <a:noFill/>
          <a:ln>
            <a:noFill/>
          </a:ln>
        </p:spPr>
      </p:pic>
      <p:sp>
        <p:nvSpPr>
          <p:cNvPr id="409" name="Google Shape;409;g3a60d55e3b1_0_95"/>
          <p:cNvSpPr txBox="1"/>
          <p:nvPr/>
        </p:nvSpPr>
        <p:spPr>
          <a:xfrm>
            <a:off x="799425" y="1983188"/>
            <a:ext cx="693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For convenience, define the scaling diagonal matrix:</a:t>
            </a:r>
            <a:endParaRPr sz="2200">
              <a:solidFill>
                <a:schemeClr val="dk1"/>
              </a:solidFill>
            </a:endParaRPr>
          </a:p>
        </p:txBody>
      </p:sp>
      <p:sp>
        <p:nvSpPr>
          <p:cNvPr id="410" name="Google Shape;410;g3a60d55e3b1_0_95"/>
          <p:cNvSpPr txBox="1"/>
          <p:nvPr/>
        </p:nvSpPr>
        <p:spPr>
          <a:xfrm>
            <a:off x="799425" y="3500888"/>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Then we have: </a:t>
            </a:r>
            <a:endParaRPr sz="2200">
              <a:solidFill>
                <a:schemeClr val="dk1"/>
              </a:solidFill>
            </a:endParaRPr>
          </a:p>
        </p:txBody>
      </p:sp>
      <p:sp>
        <p:nvSpPr>
          <p:cNvPr id="411" name="Google Shape;411;g3a60d55e3b1_0_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a60d55e3b1_0_108"/>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417" name="Google Shape;417;g3a60d55e3b1_0_108"/>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418" name="Google Shape;418;g3a60d55e3b1_0_108"/>
          <p:cNvSpPr txBox="1"/>
          <p:nvPr>
            <p:ph idx="4294967295" type="title"/>
          </p:nvPr>
        </p:nvSpPr>
        <p:spPr>
          <a:xfrm>
            <a:off x="833950" y="463476"/>
            <a:ext cx="7766400" cy="1781700"/>
          </a:xfrm>
          <a:prstGeom prst="rect">
            <a:avLst/>
          </a:prstGeom>
          <a:noFill/>
          <a:ln>
            <a:noFill/>
          </a:ln>
        </p:spPr>
        <p:txBody>
          <a:bodyPr anchorCtr="0" anchor="t" bIns="91425" lIns="90000" spcFirstLastPara="1" rIns="90000"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Assume Q is any square matrix.</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matrix Q: its entry in row i, column j, is Q</a:t>
            </a:r>
            <a:r>
              <a:rPr baseline="-25000" lang="en" sz="2000">
                <a:solidFill>
                  <a:schemeClr val="dk1"/>
                </a:solidFill>
              </a:rPr>
              <a:t>ij</a:t>
            </a:r>
            <a:r>
              <a:rPr lang="en">
                <a:solidFill>
                  <a:schemeClr val="dk1"/>
                </a:solidFill>
              </a:rPr>
              <a:t>​</a:t>
            </a:r>
            <a:r>
              <a:rPr lang="en">
                <a:solidFill>
                  <a:schemeClr val="dk1"/>
                </a:solidFill>
              </a:rPr>
              <a:t>.</a:t>
            </a:r>
            <a:br>
              <a:rPr lang="en">
                <a:solidFill>
                  <a:schemeClr val="dk1"/>
                </a:solidFill>
              </a:rPr>
            </a:b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pic>
        <p:nvPicPr>
          <p:cNvPr id="419" name="Google Shape;419;g3a60d55e3b1_0_108"/>
          <p:cNvPicPr preferRelativeResize="0"/>
          <p:nvPr/>
        </p:nvPicPr>
        <p:blipFill>
          <a:blip r:embed="rId4">
            <a:alphaModFix/>
          </a:blip>
          <a:stretch>
            <a:fillRect/>
          </a:stretch>
        </p:blipFill>
        <p:spPr>
          <a:xfrm>
            <a:off x="1849225" y="2533775"/>
            <a:ext cx="5581650" cy="1276350"/>
          </a:xfrm>
          <a:prstGeom prst="rect">
            <a:avLst/>
          </a:prstGeom>
          <a:noFill/>
          <a:ln>
            <a:noFill/>
          </a:ln>
        </p:spPr>
      </p:pic>
      <p:sp>
        <p:nvSpPr>
          <p:cNvPr id="420" name="Google Shape;420;g3a60d55e3b1_0_108"/>
          <p:cNvSpPr txBox="1"/>
          <p:nvPr/>
        </p:nvSpPr>
        <p:spPr>
          <a:xfrm>
            <a:off x="833950" y="4204725"/>
            <a:ext cx="5783100" cy="6156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2800">
                <a:solidFill>
                  <a:schemeClr val="dk1"/>
                </a:solidFill>
              </a:rPr>
              <a:t>The matrix S is diagonal</a:t>
            </a:r>
            <a:endParaRPr/>
          </a:p>
        </p:txBody>
      </p:sp>
      <p:sp>
        <p:nvSpPr>
          <p:cNvPr id="421" name="Google Shape;421;g3a60d55e3b1_0_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a60d55e3b1_0_122"/>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427" name="Google Shape;427;g3a60d55e3b1_0_122"/>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428" name="Google Shape;428;g3a60d55e3b1_0_122"/>
          <p:cNvSpPr txBox="1"/>
          <p:nvPr>
            <p:ph idx="4294967295" type="title"/>
          </p:nvPr>
        </p:nvSpPr>
        <p:spPr>
          <a:xfrm>
            <a:off x="691750" y="2237675"/>
            <a:ext cx="7908600" cy="1887900"/>
          </a:xfrm>
          <a:prstGeom prst="rect">
            <a:avLst/>
          </a:prstGeom>
          <a:noFill/>
          <a:ln>
            <a:noFill/>
          </a:ln>
        </p:spPr>
        <p:txBody>
          <a:bodyPr anchorCtr="0" anchor="t" bIns="91425" lIns="90000" spcFirstLastPara="1" rIns="90000"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2200">
                <a:solidFill>
                  <a:schemeClr val="dk1"/>
                </a:solidFill>
              </a:rPr>
              <a:t>Step 1: Left multiplication</a:t>
            </a:r>
            <a:endParaRPr b="1"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2200">
                <a:solidFill>
                  <a:schemeClr val="dk1"/>
                </a:solidFill>
              </a:rPr>
              <a:t>Let </a:t>
            </a:r>
            <a:r>
              <a:rPr b="1" lang="en" sz="2200">
                <a:solidFill>
                  <a:schemeClr val="dk1"/>
                </a:solidFill>
              </a:rPr>
              <a:t>A=SQ</a:t>
            </a:r>
            <a:r>
              <a:rPr lang="en" sz="2200">
                <a:solidFill>
                  <a:schemeClr val="dk1"/>
                </a:solidFill>
              </a:rPr>
              <a:t>.</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2200">
                <a:solidFill>
                  <a:schemeClr val="dk1"/>
                </a:solidFill>
              </a:rPr>
              <a:t>Because </a:t>
            </a:r>
            <a:r>
              <a:rPr b="1" lang="en" sz="2200">
                <a:solidFill>
                  <a:schemeClr val="dk1"/>
                </a:solidFill>
              </a:rPr>
              <a:t>S</a:t>
            </a:r>
            <a:r>
              <a:rPr lang="en" sz="2200">
                <a:solidFill>
                  <a:schemeClr val="dk1"/>
                </a:solidFill>
              </a:rPr>
              <a:t> is diagonal, it multiplies each row of </a:t>
            </a:r>
            <a:r>
              <a:rPr b="1" lang="en" sz="2200">
                <a:solidFill>
                  <a:schemeClr val="dk1"/>
                </a:solidFill>
              </a:rPr>
              <a:t>Q</a:t>
            </a:r>
            <a:r>
              <a:rPr lang="en" sz="2200">
                <a:solidFill>
                  <a:schemeClr val="dk1"/>
                </a:solidFill>
              </a:rPr>
              <a:t> by </a:t>
            </a:r>
            <a:r>
              <a:rPr b="1" lang="en" sz="2200">
                <a:solidFill>
                  <a:schemeClr val="dk1"/>
                </a:solidFill>
              </a:rPr>
              <a:t>S</a:t>
            </a:r>
            <a:r>
              <a:rPr b="1" baseline="-25000" lang="en" sz="2200">
                <a:solidFill>
                  <a:schemeClr val="dk1"/>
                </a:solidFill>
              </a:rPr>
              <a:t>ii</a:t>
            </a:r>
            <a:endParaRPr sz="2200">
              <a:solidFill>
                <a:schemeClr val="dk1"/>
              </a:solidFill>
            </a:endParaRPr>
          </a:p>
          <a:p>
            <a:pPr indent="0" lvl="0" marL="0" rtl="0" algn="l">
              <a:spcBef>
                <a:spcPts val="1200"/>
              </a:spcBef>
              <a:spcAft>
                <a:spcPts val="0"/>
              </a:spcAft>
              <a:buClr>
                <a:schemeClr val="dk1"/>
              </a:buClr>
              <a:buSzPts val="1100"/>
              <a:buFont typeface="Arial"/>
              <a:buNone/>
            </a:pPr>
            <a:r>
              <a:t/>
            </a:r>
            <a:endParaRPr sz="2200">
              <a:solidFill>
                <a:schemeClr val="dk1"/>
              </a:solidFill>
            </a:endParaRPr>
          </a:p>
        </p:txBody>
      </p:sp>
      <p:pic>
        <p:nvPicPr>
          <p:cNvPr id="429" name="Google Shape;429;g3a60d55e3b1_0_122"/>
          <p:cNvPicPr preferRelativeResize="0"/>
          <p:nvPr/>
        </p:nvPicPr>
        <p:blipFill>
          <a:blip r:embed="rId4">
            <a:alphaModFix/>
          </a:blip>
          <a:stretch>
            <a:fillRect/>
          </a:stretch>
        </p:blipFill>
        <p:spPr>
          <a:xfrm>
            <a:off x="3822138" y="1529900"/>
            <a:ext cx="1499725" cy="527750"/>
          </a:xfrm>
          <a:prstGeom prst="rect">
            <a:avLst/>
          </a:prstGeom>
          <a:noFill/>
          <a:ln>
            <a:noFill/>
          </a:ln>
        </p:spPr>
      </p:pic>
      <p:pic>
        <p:nvPicPr>
          <p:cNvPr id="430" name="Google Shape;430;g3a60d55e3b1_0_122"/>
          <p:cNvPicPr preferRelativeResize="0"/>
          <p:nvPr/>
        </p:nvPicPr>
        <p:blipFill>
          <a:blip r:embed="rId5">
            <a:alphaModFix/>
          </a:blip>
          <a:stretch>
            <a:fillRect/>
          </a:stretch>
        </p:blipFill>
        <p:spPr>
          <a:xfrm>
            <a:off x="2807725" y="3829325"/>
            <a:ext cx="3676650" cy="1181100"/>
          </a:xfrm>
          <a:prstGeom prst="rect">
            <a:avLst/>
          </a:prstGeom>
          <a:noFill/>
          <a:ln>
            <a:noFill/>
          </a:ln>
        </p:spPr>
      </p:pic>
      <p:sp>
        <p:nvSpPr>
          <p:cNvPr id="431" name="Google Shape;431;g3a60d55e3b1_0_122"/>
          <p:cNvSpPr txBox="1"/>
          <p:nvPr/>
        </p:nvSpPr>
        <p:spPr>
          <a:xfrm>
            <a:off x="822150" y="8164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We compute:</a:t>
            </a:r>
            <a:endParaRPr sz="2200"/>
          </a:p>
        </p:txBody>
      </p:sp>
      <p:sp>
        <p:nvSpPr>
          <p:cNvPr id="432" name="Google Shape;432;g3a60d55e3b1_0_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a60d55e3b1_0_144"/>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438" name="Google Shape;438;g3a60d55e3b1_0_144"/>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pic>
        <p:nvPicPr>
          <p:cNvPr id="439" name="Google Shape;439;g3a60d55e3b1_0_144"/>
          <p:cNvPicPr preferRelativeResize="0"/>
          <p:nvPr/>
        </p:nvPicPr>
        <p:blipFill>
          <a:blip r:embed="rId4">
            <a:alphaModFix/>
          </a:blip>
          <a:stretch>
            <a:fillRect/>
          </a:stretch>
        </p:blipFill>
        <p:spPr>
          <a:xfrm>
            <a:off x="3575175" y="1737300"/>
            <a:ext cx="1714500" cy="609600"/>
          </a:xfrm>
          <a:prstGeom prst="rect">
            <a:avLst/>
          </a:prstGeom>
          <a:noFill/>
          <a:ln>
            <a:noFill/>
          </a:ln>
        </p:spPr>
      </p:pic>
      <p:pic>
        <p:nvPicPr>
          <p:cNvPr id="440" name="Google Shape;440;g3a60d55e3b1_0_144"/>
          <p:cNvPicPr preferRelativeResize="0"/>
          <p:nvPr/>
        </p:nvPicPr>
        <p:blipFill>
          <a:blip r:embed="rId5">
            <a:alphaModFix/>
          </a:blip>
          <a:stretch>
            <a:fillRect/>
          </a:stretch>
        </p:blipFill>
        <p:spPr>
          <a:xfrm>
            <a:off x="3382838" y="3673625"/>
            <a:ext cx="2099166" cy="749702"/>
          </a:xfrm>
          <a:prstGeom prst="rect">
            <a:avLst/>
          </a:prstGeom>
          <a:noFill/>
          <a:ln>
            <a:noFill/>
          </a:ln>
        </p:spPr>
      </p:pic>
      <p:sp>
        <p:nvSpPr>
          <p:cNvPr id="441" name="Google Shape;441;g3a60d55e3b1_0_144"/>
          <p:cNvSpPr txBox="1"/>
          <p:nvPr/>
        </p:nvSpPr>
        <p:spPr>
          <a:xfrm>
            <a:off x="323171" y="2665100"/>
            <a:ext cx="762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rPr>
              <a:t>Multiplying by a diagonal matrix on the right scales each column by </a:t>
            </a:r>
            <a:r>
              <a:rPr b="1" lang="en" sz="2200">
                <a:solidFill>
                  <a:schemeClr val="dk1"/>
                </a:solidFill>
              </a:rPr>
              <a:t>S</a:t>
            </a:r>
            <a:r>
              <a:rPr b="1" baseline="-25000" lang="en" sz="2200">
                <a:solidFill>
                  <a:schemeClr val="dk1"/>
                </a:solidFill>
              </a:rPr>
              <a:t>jj</a:t>
            </a:r>
            <a:endParaRPr sz="2200"/>
          </a:p>
        </p:txBody>
      </p:sp>
      <p:sp>
        <p:nvSpPr>
          <p:cNvPr id="442" name="Google Shape;442;g3a60d55e3b1_0_144"/>
          <p:cNvSpPr txBox="1"/>
          <p:nvPr/>
        </p:nvSpPr>
        <p:spPr>
          <a:xfrm>
            <a:off x="323175" y="1098475"/>
            <a:ext cx="4966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b="1" lang="en" sz="2200">
                <a:solidFill>
                  <a:schemeClr val="dk1"/>
                </a:solidFill>
              </a:rPr>
              <a:t>Step 2: Right multiplication</a:t>
            </a:r>
            <a:endParaRPr sz="2200"/>
          </a:p>
        </p:txBody>
      </p:sp>
      <p:sp>
        <p:nvSpPr>
          <p:cNvPr id="443" name="Google Shape;443;g3a60d55e3b1_0_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a60d55e3b1_0_158"/>
          <p:cNvSpPr/>
          <p:nvPr/>
        </p:nvSpPr>
        <p:spPr>
          <a:xfrm>
            <a:off x="4561700" y="0"/>
            <a:ext cx="3884100" cy="710700"/>
          </a:xfrm>
          <a:prstGeom prst="rect">
            <a:avLst/>
          </a:prstGeom>
          <a:noFill/>
          <a:ln>
            <a:noFill/>
          </a:ln>
        </p:spPr>
        <p:txBody>
          <a:bodyPr anchorCtr="0" anchor="b" bIns="91425" lIns="0" spcFirstLastPara="1" rIns="0" wrap="square" tIns="91425">
            <a:noAutofit/>
          </a:bodyPr>
          <a:lstStyle/>
          <a:p>
            <a:pPr indent="0" lvl="0" marL="0" marR="0" rtl="0" algn="r">
              <a:lnSpc>
                <a:spcPct val="100000"/>
              </a:lnSpc>
              <a:spcBef>
                <a:spcPts val="0"/>
              </a:spcBef>
              <a:spcAft>
                <a:spcPts val="0"/>
              </a:spcAft>
              <a:buClr>
                <a:srgbClr val="000000"/>
              </a:buClr>
              <a:buSzPts val="1000"/>
              <a:buFont typeface="Arial"/>
              <a:buNone/>
            </a:pPr>
            <a:r>
              <a:rPr b="1" i="0" lang="en" sz="1000" u="none" cap="none" strike="noStrike">
                <a:solidFill>
                  <a:srgbClr val="434343"/>
                </a:solidFill>
                <a:latin typeface="Calibri"/>
                <a:ea typeface="Calibri"/>
                <a:cs typeface="Calibri"/>
                <a:sym typeface="Calibri"/>
              </a:rPr>
              <a:t>HO CHI MINH CITY UNIVERSITY OF TECHNOLOGY</a:t>
            </a:r>
            <a:endParaRPr b="0" i="0" sz="1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434343"/>
                </a:solidFill>
                <a:latin typeface="Calibri"/>
                <a:ea typeface="Calibri"/>
                <a:cs typeface="Calibri"/>
                <a:sym typeface="Calibri"/>
              </a:rPr>
              <a:t>Faculty of Computer Science and Engineering</a:t>
            </a:r>
            <a:endParaRPr b="0" i="0" sz="1000" u="none" cap="none" strike="noStrike">
              <a:solidFill>
                <a:srgbClr val="434343"/>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id="449" name="Google Shape;449;g3a60d55e3b1_0_158"/>
          <p:cNvPicPr preferRelativeResize="0"/>
          <p:nvPr/>
        </p:nvPicPr>
        <p:blipFill rotWithShape="1">
          <a:blip r:embed="rId3">
            <a:alphaModFix/>
          </a:blip>
          <a:srcRect b="0" l="0" r="0" t="0"/>
          <a:stretch/>
        </p:blipFill>
        <p:spPr>
          <a:xfrm>
            <a:off x="8600360" y="128163"/>
            <a:ext cx="350281" cy="454379"/>
          </a:xfrm>
          <a:prstGeom prst="rect">
            <a:avLst/>
          </a:prstGeom>
          <a:noFill/>
          <a:ln>
            <a:noFill/>
          </a:ln>
        </p:spPr>
      </p:pic>
      <p:sp>
        <p:nvSpPr>
          <p:cNvPr id="450" name="Google Shape;450;g3a60d55e3b1_0_158"/>
          <p:cNvSpPr txBox="1"/>
          <p:nvPr>
            <p:ph idx="4294967295" type="title"/>
          </p:nvPr>
        </p:nvSpPr>
        <p:spPr>
          <a:xfrm>
            <a:off x="994299" y="1408025"/>
            <a:ext cx="2526600" cy="564900"/>
          </a:xfrm>
          <a:prstGeom prst="rect">
            <a:avLst/>
          </a:prstGeom>
          <a:noFill/>
          <a:ln>
            <a:noFill/>
          </a:ln>
        </p:spPr>
        <p:txBody>
          <a:bodyPr anchorCtr="0" anchor="t" bIns="91425" lIns="90000" spcFirstLastPara="1" rIns="90000"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2200">
                <a:solidFill>
                  <a:schemeClr val="dk1"/>
                </a:solidFill>
              </a:rPr>
              <a:t>Substituting A</a:t>
            </a:r>
            <a:r>
              <a:rPr b="1" baseline="-25000" lang="en" sz="2200">
                <a:solidFill>
                  <a:schemeClr val="dk1"/>
                </a:solidFill>
              </a:rPr>
              <a:t>ij</a:t>
            </a:r>
            <a:endParaRPr b="1" baseline="-25000" sz="2200">
              <a:solidFill>
                <a:schemeClr val="dk1"/>
              </a:solidFill>
            </a:endParaRPr>
          </a:p>
          <a:p>
            <a:pPr indent="0" lvl="0" marL="0" rtl="0" algn="l">
              <a:spcBef>
                <a:spcPts val="200"/>
              </a:spcBef>
              <a:spcAft>
                <a:spcPts val="0"/>
              </a:spcAft>
              <a:buClr>
                <a:schemeClr val="dk1"/>
              </a:buClr>
              <a:buSzPts val="1100"/>
              <a:buFont typeface="Arial"/>
              <a:buNone/>
            </a:pPr>
            <a:r>
              <a:t/>
            </a:r>
            <a:endParaRPr b="1" baseline="-25000" sz="1600">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pic>
        <p:nvPicPr>
          <p:cNvPr id="451" name="Google Shape;451;g3a60d55e3b1_0_158"/>
          <p:cNvPicPr preferRelativeResize="0"/>
          <p:nvPr/>
        </p:nvPicPr>
        <p:blipFill>
          <a:blip r:embed="rId4">
            <a:alphaModFix/>
          </a:blip>
          <a:stretch>
            <a:fillRect/>
          </a:stretch>
        </p:blipFill>
        <p:spPr>
          <a:xfrm>
            <a:off x="1070288" y="2338475"/>
            <a:ext cx="7249524" cy="1356375"/>
          </a:xfrm>
          <a:prstGeom prst="rect">
            <a:avLst/>
          </a:prstGeom>
          <a:noFill/>
          <a:ln>
            <a:noFill/>
          </a:ln>
        </p:spPr>
      </p:pic>
      <p:sp>
        <p:nvSpPr>
          <p:cNvPr id="452" name="Google Shape;452;g3a60d55e3b1_0_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af8b8a06fb_0_6"/>
          <p:cNvSpPr txBox="1"/>
          <p:nvPr/>
        </p:nvSpPr>
        <p:spPr>
          <a:xfrm>
            <a:off x="625950" y="1258675"/>
            <a:ext cx="7892100" cy="290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000">
                <a:solidFill>
                  <a:schemeClr val="dk1"/>
                </a:solidFill>
              </a:rPr>
              <a:t>Q&amp;A</a:t>
            </a:r>
            <a:endParaRPr b="1" sz="4000">
              <a:solidFill>
                <a:schemeClr val="dk1"/>
              </a:solidFill>
            </a:endParaRPr>
          </a:p>
        </p:txBody>
      </p:sp>
      <p:sp>
        <p:nvSpPr>
          <p:cNvPr id="458" name="Google Shape;458;g3af8b8a06fb_0_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file>